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18" r:id="rId2"/>
    <p:sldMasterId id="2147483730" r:id="rId3"/>
  </p:sldMasterIdLst>
  <p:notesMasterIdLst>
    <p:notesMasterId r:id="rId45"/>
  </p:notesMasterIdLst>
  <p:sldIdLst>
    <p:sldId id="445" r:id="rId4"/>
    <p:sldId id="461" r:id="rId5"/>
    <p:sldId id="467" r:id="rId6"/>
    <p:sldId id="565" r:id="rId7"/>
    <p:sldId id="469" r:id="rId8"/>
    <p:sldId id="715" r:id="rId9"/>
    <p:sldId id="716" r:id="rId10"/>
    <p:sldId id="717" r:id="rId11"/>
    <p:sldId id="709" r:id="rId12"/>
    <p:sldId id="718" r:id="rId13"/>
    <p:sldId id="710" r:id="rId14"/>
    <p:sldId id="719" r:id="rId15"/>
    <p:sldId id="574" r:id="rId16"/>
    <p:sldId id="586" r:id="rId17"/>
    <p:sldId id="720" r:id="rId18"/>
    <p:sldId id="721" r:id="rId19"/>
    <p:sldId id="722" r:id="rId20"/>
    <p:sldId id="723" r:id="rId21"/>
    <p:sldId id="575" r:id="rId22"/>
    <p:sldId id="593" r:id="rId23"/>
    <p:sldId id="724" r:id="rId24"/>
    <p:sldId id="725" r:id="rId25"/>
    <p:sldId id="726" r:id="rId26"/>
    <p:sldId id="727" r:id="rId27"/>
    <p:sldId id="728" r:id="rId28"/>
    <p:sldId id="729" r:id="rId29"/>
    <p:sldId id="730" r:id="rId30"/>
    <p:sldId id="731" r:id="rId31"/>
    <p:sldId id="732" r:id="rId32"/>
    <p:sldId id="733" r:id="rId33"/>
    <p:sldId id="734" r:id="rId34"/>
    <p:sldId id="576" r:id="rId35"/>
    <p:sldId id="633" r:id="rId36"/>
    <p:sldId id="735" r:id="rId37"/>
    <p:sldId id="736" r:id="rId38"/>
    <p:sldId id="737" r:id="rId39"/>
    <p:sldId id="738" r:id="rId40"/>
    <p:sldId id="572" r:id="rId41"/>
    <p:sldId id="708" r:id="rId42"/>
    <p:sldId id="739" r:id="rId43"/>
    <p:sldId id="460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E3E"/>
    <a:srgbClr val="185C37"/>
    <a:srgbClr val="0285CB"/>
    <a:srgbClr val="002060"/>
    <a:srgbClr val="185194"/>
    <a:srgbClr val="DCE5F4"/>
    <a:srgbClr val="C5E0F5"/>
    <a:srgbClr val="DEE6F4"/>
    <a:srgbClr val="55A2EA"/>
    <a:srgbClr val="F58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996" autoAdjust="0"/>
  </p:normalViewPr>
  <p:slideViewPr>
    <p:cSldViewPr snapToGrid="0">
      <p:cViewPr varScale="1">
        <p:scale>
          <a:sx n="111" d="100"/>
          <a:sy n="111" d="100"/>
        </p:scale>
        <p:origin x="5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EA4C-C730-45EE-962B-B75D339BE59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EA2C-B15A-41FB-8CEE-35D5B1FD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0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2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4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4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2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8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3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62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9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31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76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86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32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8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82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408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62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E628-2295-60C3-554B-F69E258C7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4C919-552B-4185-4905-0A757EFBE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2A18-DD51-A715-AA07-3AC35E76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425B3-236F-BAF5-5652-A317BE78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E9B-AB16-03FF-E3B5-F08ECD1E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98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B833-7404-8AFF-519B-2D646F42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41CBC-D474-A9EE-0C80-1B6532AA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98A8C-3126-4E7D-80EB-B4C08400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FED16-F5A6-D00B-4AAA-31A9CBA5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08A1E-7E44-AB63-5129-3474C48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703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419C-0981-F5B1-5D2A-CCD7E09E1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A8433-A6B3-E369-9D17-B42E71A7E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0DC4B-B5A8-BD42-8713-E2541CE7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4096-DA24-D161-7995-C7CB1FDB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9CEA4-D9A3-0922-F2E3-4C4845DB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883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24F0-356E-C304-3638-8E1DD187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55A28-EF5F-C786-3BD1-616C8D19B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ED6FF-F127-182E-A5C1-53E5DD3C2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7732D-AA97-B0D8-852D-EC24F4B0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CC093-26A6-6390-5220-AB19AF9C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BC467-3675-ABA2-5ACF-ED3DCC83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99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4EF6-8F6A-C449-56C0-4704F8B1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501C1-B182-ED07-B6D9-E2DB79F27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FF3AA-B86A-C2EE-225A-4A260F6A0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3E46D-8B89-72AA-1F93-101539E95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897D-14A4-AACB-FFF9-89CE19725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7E40B-0173-615D-22C5-9BFE79C41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6794A-32C5-1657-D308-2B9BA529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DB5EF-CD48-1595-B798-8D879C9D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942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7128-C371-3E31-E353-5B514143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99A92-FC3E-64AE-6505-D4313DBD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148D0-5A47-80EC-ADD6-A6FDEEDE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04F37-CEDB-64B1-3DF9-C151155D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602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C06E0-C082-CFF8-ED9B-E69DDDBC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ACCD9-5745-4E08-CD69-1F430F29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DCCD6-8219-C9B0-A419-2E19287A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149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3BBC-3704-CCB1-D5B7-063A7C66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6B5F-BCC7-5058-2B0D-D9832D0C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392F0-032F-5468-7FC7-72990F7AF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55751-5BE4-5A53-79A2-86477DFE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8FE1F-92F1-10FF-B9A1-FDDA5D06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0165C-9B44-BACC-B846-E2F79060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059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7C10-E587-3CD1-5567-42066EEE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1E7BC-D7AB-7D51-9D31-0369C0F7D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5EEC0-64E0-1A15-E9D3-8E22F4EA2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E0995-61F9-ADED-7651-66556999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18B3E-3978-D3B5-4EFC-96C7C591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27C20-A6BA-C1DB-B6FA-48E1007F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99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AAF8-F153-CE9F-ABB2-ED45AC83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1413-8D02-E7BA-E196-655B8E4DE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CED38-9C59-9133-CCA1-BFBBD0A1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95077-8A4A-D037-00F9-71718FBB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F9982-5564-9E26-E5FA-E0DF3C25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340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A80C18-BE41-83C4-23B9-4481A22F7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9A975-3065-22EB-02F1-BB19E8B42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EC24B-29F3-3219-A99B-B56FCB76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40EA8-9C61-E097-C0CC-165A3971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BA7B8-1C09-A464-B610-3F8B9F20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0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0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31FE1-4F1F-DCD0-653B-10C113FD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2EE2B-89ED-CDED-20AD-C726F9A03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71289-A8A4-49AD-D06D-8CEBDCCF9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BDBE2-65EB-463D-B15D-57DD3A1ED31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BAAE-1591-6815-7EE6-DF2504DA8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B3D3A-5F7C-BE1C-6772-4A69681B8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5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AC19497-F638-0811-E7ED-6E6FA4360F2F}"/>
              </a:ext>
            </a:extLst>
          </p:cNvPr>
          <p:cNvGrpSpPr/>
          <p:nvPr/>
        </p:nvGrpSpPr>
        <p:grpSpPr>
          <a:xfrm>
            <a:off x="4658788" y="5255795"/>
            <a:ext cx="4045464" cy="1029113"/>
            <a:chOff x="6824798" y="5793729"/>
            <a:chExt cx="3667695" cy="978289"/>
          </a:xfrm>
          <a:noFill/>
        </p:grpSpPr>
        <p:pic>
          <p:nvPicPr>
            <p:cNvPr id="15" name="Picture 1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C10EB561-9745-F8D5-A329-610E598C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4798" y="6028998"/>
              <a:ext cx="2084032" cy="715548"/>
            </a:xfrm>
            <a:prstGeom prst="rect">
              <a:avLst/>
            </a:prstGeom>
            <a:grpFill/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CBE5B9B-0BC4-F177-AC6B-7A636CCB5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8193" y="5793729"/>
              <a:ext cx="1484300" cy="978289"/>
            </a:xfrm>
            <a:prstGeom prst="rect">
              <a:avLst/>
            </a:prstGeom>
            <a:grpFill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33647FC-E9A4-CF82-B3C7-3A659951E4E9}"/>
              </a:ext>
            </a:extLst>
          </p:cNvPr>
          <p:cNvSpPr/>
          <p:nvPr/>
        </p:nvSpPr>
        <p:spPr>
          <a:xfrm>
            <a:off x="631865" y="308359"/>
            <a:ext cx="512031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Excel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Training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64458-297F-61DC-1CAB-BBA507E98155}"/>
              </a:ext>
            </a:extLst>
          </p:cNvPr>
          <p:cNvSpPr/>
          <p:nvPr/>
        </p:nvSpPr>
        <p:spPr>
          <a:xfrm>
            <a:off x="894616" y="4527669"/>
            <a:ext cx="376417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610C3D-2903-8547-C5B8-1A6D15409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24" y="573092"/>
            <a:ext cx="5334462" cy="270076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3710E89-F473-B169-1AD7-FB86CEF9F8EE}"/>
              </a:ext>
            </a:extLst>
          </p:cNvPr>
          <p:cNvSpPr txBox="1">
            <a:spLocks/>
          </p:cNvSpPr>
          <p:nvPr/>
        </p:nvSpPr>
        <p:spPr>
          <a:xfrm>
            <a:off x="1100635" y="5524501"/>
            <a:ext cx="3093342" cy="91877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Manager of Information Center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Tendering Department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Arab Contractors </a:t>
            </a:r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38C68A23-615E-2591-CC49-727408AD7C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533" y="6032703"/>
            <a:ext cx="457986" cy="3846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82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25BA74D-EF90-0239-6711-2B75A901504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B9E7AE-DD3E-2778-4505-29CE11B55B95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699ADC-6A36-3C68-70BE-C69A1A410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09E0A5-81C4-0F08-070C-450985911AA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B22DA6-C1D9-CC24-D593-4E2B3FB3C2E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20A25A-1A8C-0312-D649-F7FB275E6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3AF23-43B7-46D7-E096-7C5743A54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99D5D1C-CB18-AA91-2F2E-273EBAD07469}"/>
              </a:ext>
            </a:extLst>
          </p:cNvPr>
          <p:cNvSpPr/>
          <p:nvPr/>
        </p:nvSpPr>
        <p:spPr>
          <a:xfrm>
            <a:off x="27709" y="2875002"/>
            <a:ext cx="1219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Sharing Workbooks</a:t>
            </a:r>
            <a:endParaRPr lang="en-US" sz="54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FFDDE-FB1B-012C-48CA-7D54DF023313}"/>
              </a:ext>
            </a:extLst>
          </p:cNvPr>
          <p:cNvSpPr/>
          <p:nvPr/>
        </p:nvSpPr>
        <p:spPr>
          <a:xfrm>
            <a:off x="10457" y="1512371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10</a:t>
            </a:r>
            <a:endParaRPr lang="en-US" sz="88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ED84B-4DD8-B161-A53E-1F071E9DFD0A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94523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D31F-C2C9-6410-C474-4A48538A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5FF88-DAD0-AF74-C033-9EC8464D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DBC2017-19A4-3A61-CC33-2C2CF3691949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5B64084-F9E0-EFAC-3F5A-4959D56BE15B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79767E-2BFC-44A6-A39B-AC9F3F50C6E7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90C34F3-5F1B-8FF5-5C64-3DB215C5B981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8ACAE1A-298E-6E35-5762-FB81E90E2E18}"/>
              </a:ext>
            </a:extLst>
          </p:cNvPr>
          <p:cNvSpPr/>
          <p:nvPr/>
        </p:nvSpPr>
        <p:spPr>
          <a:xfrm>
            <a:off x="1008264" y="718197"/>
            <a:ext cx="832253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Protecting Workbooks and Worksheets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76C5286A-EA77-DB98-E6D5-F97F711679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14FD281D-3274-A4C3-2CCB-0E7F8DB1F6BD}"/>
              </a:ext>
            </a:extLst>
          </p:cNvPr>
          <p:cNvSpPr/>
          <p:nvPr/>
        </p:nvSpPr>
        <p:spPr>
          <a:xfrm rot="5400000">
            <a:off x="37436" y="1928712"/>
            <a:ext cx="914400" cy="914400"/>
          </a:xfrm>
          <a:prstGeom prst="ellipse">
            <a:avLst/>
          </a:prstGeom>
          <a:solidFill>
            <a:srgbClr val="E97132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6B1B75-ADD6-244B-F6EA-C5E40C655D8E}"/>
              </a:ext>
            </a:extLst>
          </p:cNvPr>
          <p:cNvGrpSpPr/>
          <p:nvPr/>
        </p:nvGrpSpPr>
        <p:grpSpPr>
          <a:xfrm>
            <a:off x="-9179341" y="1925778"/>
            <a:ext cx="10131175" cy="945045"/>
            <a:chOff x="-7180886" y="3075286"/>
            <a:chExt cx="8103890" cy="9360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B9ACD2E-80E8-F0CC-E81F-865A0102D455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97132"/>
                </a:gs>
                <a:gs pos="100000">
                  <a:srgbClr val="F4B5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032D44E-ACB4-AA1A-B0BB-67AA12B0BD19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E97132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44AB937-4DDE-BB2B-9C00-A9F7BBABF70C}"/>
              </a:ext>
            </a:extLst>
          </p:cNvPr>
          <p:cNvSpPr/>
          <p:nvPr/>
        </p:nvSpPr>
        <p:spPr>
          <a:xfrm>
            <a:off x="1037094" y="2019778"/>
            <a:ext cx="403347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4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Spell Checking</a:t>
            </a:r>
            <a:endParaRPr kumimoji="0" lang="en-US" sz="44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36" name="Picture 35" descr="A close-up of a container&#10;&#10;AI-generated content may be incorrect.">
            <a:extLst>
              <a:ext uri="{FF2B5EF4-FFF2-40B4-BE49-F238E27FC236}">
                <a16:creationId xmlns:a16="http://schemas.microsoft.com/office/drawing/2014/main" id="{AE7F36A8-C824-0788-E427-CD0A8C0111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1947649"/>
            <a:ext cx="774618" cy="774618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D440FAF9-F7FA-7BE4-9BC6-52CF36F1CF3B}"/>
              </a:ext>
            </a:extLst>
          </p:cNvPr>
          <p:cNvSpPr/>
          <p:nvPr/>
        </p:nvSpPr>
        <p:spPr>
          <a:xfrm rot="5400000">
            <a:off x="125764" y="3241986"/>
            <a:ext cx="914400" cy="914400"/>
          </a:xfrm>
          <a:prstGeom prst="ellipse">
            <a:avLst/>
          </a:prstGeom>
          <a:solidFill>
            <a:srgbClr val="196B24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E21FB87-3235-BEAB-EB0D-BA5A310E869F}"/>
              </a:ext>
            </a:extLst>
          </p:cNvPr>
          <p:cNvGrpSpPr/>
          <p:nvPr/>
        </p:nvGrpSpPr>
        <p:grpSpPr>
          <a:xfrm>
            <a:off x="-9091013" y="3239052"/>
            <a:ext cx="10131175" cy="945045"/>
            <a:chOff x="-7180886" y="3075286"/>
            <a:chExt cx="8103890" cy="93606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5C0820E-EBD4-08BA-4999-EAF69375CF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96B24"/>
                </a:gs>
                <a:gs pos="100000">
                  <a:srgbClr val="88B18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B48164A-24CF-F37E-6551-83299BF5EE5E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196B24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35365C3-E28E-EB73-3F48-E8C72408B6A1}"/>
              </a:ext>
            </a:extLst>
          </p:cNvPr>
          <p:cNvSpPr/>
          <p:nvPr/>
        </p:nvSpPr>
        <p:spPr>
          <a:xfrm>
            <a:off x="1125422" y="3333052"/>
            <a:ext cx="716523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800" b="1" dirty="0">
                <a:ln w="0"/>
                <a:solidFill>
                  <a:srgbClr val="E97132">
                    <a:lumMod val="40000"/>
                    <a:lumOff val="6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Inspecting the Workbook</a:t>
            </a:r>
            <a:endParaRPr kumimoji="0" lang="en-US" sz="4800" b="1" i="0" u="none" strike="noStrike" kern="1200" cap="none" spc="0" normalizeH="0" baseline="0" noProof="0" dirty="0">
              <a:ln w="0"/>
              <a:solidFill>
                <a:srgbClr val="E97132">
                  <a:lumMod val="40000"/>
                  <a:lumOff val="60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48" name="Picture 47" descr="A close-up of a folder&#10;&#10;AI-generated content may be incorrect.">
            <a:extLst>
              <a:ext uri="{FF2B5EF4-FFF2-40B4-BE49-F238E27FC236}">
                <a16:creationId xmlns:a16="http://schemas.microsoft.com/office/drawing/2014/main" id="{2932A1E0-B600-E527-D7F4-E7A3F24D68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93" y="3260923"/>
            <a:ext cx="774618" cy="774618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7BB7B1A1-8CA3-0B55-EC0A-F8F033F80C3E}"/>
              </a:ext>
            </a:extLst>
          </p:cNvPr>
          <p:cNvSpPr/>
          <p:nvPr/>
        </p:nvSpPr>
        <p:spPr>
          <a:xfrm rot="5400000">
            <a:off x="149290" y="4572460"/>
            <a:ext cx="914400" cy="914400"/>
          </a:xfrm>
          <a:prstGeom prst="ellipse">
            <a:avLst/>
          </a:prstGeom>
          <a:solidFill>
            <a:srgbClr val="0F9ED5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D41E738-632A-1F3F-CB2F-F95D10955657}"/>
              </a:ext>
            </a:extLst>
          </p:cNvPr>
          <p:cNvGrpSpPr/>
          <p:nvPr/>
        </p:nvGrpSpPr>
        <p:grpSpPr>
          <a:xfrm>
            <a:off x="-9067487" y="4569526"/>
            <a:ext cx="10131175" cy="945045"/>
            <a:chOff x="-7180886" y="3075286"/>
            <a:chExt cx="8103890" cy="936064"/>
          </a:xfrm>
          <a:gradFill>
            <a:gsLst>
              <a:gs pos="0">
                <a:srgbClr val="0F9ED5"/>
              </a:gs>
              <a:gs pos="100000">
                <a:srgbClr val="7EC7E3"/>
              </a:gs>
            </a:gsLst>
            <a:lin ang="5400000" scaled="1"/>
          </a:gra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8BE93D4-D322-3371-DDC9-0E48332CB15C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59C1350-C9B9-3DB6-8E5B-8B35F85AD745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0F9ED5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CF1D280B-4507-9E23-FFCE-F5697E0DE576}"/>
              </a:ext>
            </a:extLst>
          </p:cNvPr>
          <p:cNvSpPr/>
          <p:nvPr/>
        </p:nvSpPr>
        <p:spPr>
          <a:xfrm>
            <a:off x="1148948" y="4663526"/>
            <a:ext cx="8678633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defTabSz="914400"/>
            <a:r>
              <a:rPr lang="en-US" sz="30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Saving the Workbook in Different Formats</a:t>
            </a:r>
            <a:endParaRPr kumimoji="0" lang="en-US" sz="3000" b="1" i="0" u="none" strike="noStrike" kern="1200" cap="none" spc="0" normalizeH="0" baseline="0" noProof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D538238-60D1-8D6D-6251-FDB4AB4DF99E}"/>
              </a:ext>
            </a:extLst>
          </p:cNvPr>
          <p:cNvSpPr/>
          <p:nvPr/>
        </p:nvSpPr>
        <p:spPr>
          <a:xfrm rot="5400000">
            <a:off x="234548" y="5764245"/>
            <a:ext cx="914400" cy="914400"/>
          </a:xfrm>
          <a:prstGeom prst="ellipse">
            <a:avLst/>
          </a:prstGeom>
          <a:solidFill>
            <a:srgbClr val="A02B93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96C77A0-18FD-2F44-B654-8BC40054A6DD}"/>
              </a:ext>
            </a:extLst>
          </p:cNvPr>
          <p:cNvGrpSpPr/>
          <p:nvPr/>
        </p:nvGrpSpPr>
        <p:grpSpPr>
          <a:xfrm>
            <a:off x="-8982229" y="5761311"/>
            <a:ext cx="10131175" cy="945045"/>
            <a:chOff x="-7180886" y="3075286"/>
            <a:chExt cx="8103890" cy="936064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F58E76B-19E9-2E4B-323E-47B52BDB91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02B93"/>
                </a:gs>
                <a:gs pos="100000">
                  <a:srgbClr val="CE92C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23B4D97-BD7E-E259-8091-8ED9422D5574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A02B93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C94D7CDB-544A-6CB4-C5C7-A41C70B72730}"/>
              </a:ext>
            </a:extLst>
          </p:cNvPr>
          <p:cNvSpPr/>
          <p:nvPr/>
        </p:nvSpPr>
        <p:spPr>
          <a:xfrm>
            <a:off x="1234206" y="5855311"/>
            <a:ext cx="757438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4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Exam 10: Sharing Workbooks</a:t>
            </a:r>
          </a:p>
        </p:txBody>
      </p:sp>
      <p:pic>
        <p:nvPicPr>
          <p:cNvPr id="50" name="Picture 49" descr="A truck with a container on it&#10;&#10;AI-generated content may be incorrect.">
            <a:extLst>
              <a:ext uri="{FF2B5EF4-FFF2-40B4-BE49-F238E27FC236}">
                <a16:creationId xmlns:a16="http://schemas.microsoft.com/office/drawing/2014/main" id="{88E8A182-EC36-0F28-0F47-CA670B7EE9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61" y="4482465"/>
            <a:ext cx="914400" cy="914400"/>
          </a:xfrm>
          <a:prstGeom prst="rect">
            <a:avLst/>
          </a:prstGeom>
        </p:spPr>
      </p:pic>
      <p:pic>
        <p:nvPicPr>
          <p:cNvPr id="44" name="Picture 43" descr="A magnifying glass on a spool of paper&#10;&#10;AI-generated content may be incorrect.">
            <a:extLst>
              <a:ext uri="{FF2B5EF4-FFF2-40B4-BE49-F238E27FC236}">
                <a16:creationId xmlns:a16="http://schemas.microsoft.com/office/drawing/2014/main" id="{3D040D81-D5E2-98D9-07A6-4C6132868C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769" y="5729451"/>
            <a:ext cx="772191" cy="77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2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7 L 0.72787 0.000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4 0.00069 L 0.72787 0.00069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41" grpId="0"/>
      <p:bldP spid="55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BD556-1645-2A74-BFB8-2B6CEC181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062C5C3-51F8-B15D-814B-B6B6684329C5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EE9D98-DD04-74A0-18DC-A20BF62C4FF1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B539F1-1584-BE2A-C3E3-757B6706D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875BA5-F6B2-A4BC-1648-4EC24DFACF7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D27072-A422-7FF8-46DB-4FB826E931E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D617CC3-319C-093D-79F7-D13D9EF16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9B42F7-3CD2-8FCC-98E2-67152795C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BBF4275-5A09-3A44-4B2D-7C4FBB562EB9}"/>
              </a:ext>
            </a:extLst>
          </p:cNvPr>
          <p:cNvSpPr/>
          <p:nvPr/>
        </p:nvSpPr>
        <p:spPr>
          <a:xfrm>
            <a:off x="2958861" y="2059177"/>
            <a:ext cx="8367623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Protecting Workbooks and Worksheets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1D8F5-79CB-FE70-EE2E-503BBB4588D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76FCB-6682-381C-6607-E53C2CC9BB3E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363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9A76-043F-EE11-3B2F-5648A237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6504E4-A301-915C-2D52-AF5BEE54BA2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4ED3FA-4D22-F2EB-CE0C-F69C897410E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3D2BD3-0803-8065-6F1F-79C2FD89A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3E66636-E045-6227-0842-8BB6CCD48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F8815F2-C39E-9521-18F0-3E4DE13B5CC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Protecting Workbooks and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2D4E7-34AC-BABD-5432-A8203C65FA4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Protect Sheet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F8F565-805F-8F47-E4AD-0583866BC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866" y="1890385"/>
            <a:ext cx="5205427" cy="389374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273A4B-1335-56A8-87E7-B485E170D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8782" y="1719183"/>
            <a:ext cx="4476453" cy="177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5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A1C1C-CA49-446D-67B4-77F62127B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98749B5-91DD-5D26-BC66-09D539D33DA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EF1E62-7798-353B-F9B9-AC9889E73ED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C6BC28A-E8F3-F243-0336-9A73209E9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944C517-0588-294D-AD8C-9FF2EA57B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D9C39C4-215B-C56D-866C-DC8D28560B6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Protecting Workbooks and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86A09-48E4-5A5B-F51F-8FB1048FA9B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Protect Sheet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D43345-9691-2D2D-48E7-69EE4258E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866" y="3676685"/>
            <a:ext cx="2817375" cy="210744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99FD43-3AED-29E7-6B8E-34DAD0D9C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616" y="2113519"/>
            <a:ext cx="2745625" cy="10878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1CC49E8-946B-6A86-B2FA-4E41D60D664D}"/>
              </a:ext>
            </a:extLst>
          </p:cNvPr>
          <p:cNvSpPr/>
          <p:nvPr/>
        </p:nvSpPr>
        <p:spPr>
          <a:xfrm>
            <a:off x="1380226" y="2191109"/>
            <a:ext cx="552091" cy="757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A0B06D-56A0-0C4A-B783-95E0377B34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7690" y="1114979"/>
            <a:ext cx="3141856" cy="466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085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98943-80EA-3B80-54F6-0794307FD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A7CDCE0-C016-2D82-AB2C-FBB1C9A40B6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1D53B7-4F11-009B-200C-ACBB73FFAEF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C9C988-A472-22E8-A58F-33F939E4E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1B99B6E-0896-993C-18FA-F84617C7D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785E138-38DD-6EBC-F4E7-C831F0C5F2C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Protecting Workbooks and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2ECED-3B78-053E-5DD4-0F598DD4FAF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Protect Sheet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B70E73-5783-2377-947A-C4E707308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765" y="1374088"/>
            <a:ext cx="5610870" cy="419701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069806-9E45-87FC-C03F-41C62C688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616" y="2113519"/>
            <a:ext cx="2745625" cy="108788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5690F5-D4B3-C7EB-0BD9-AB0DF1C06C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2432" y="3968150"/>
            <a:ext cx="7107804" cy="1016906"/>
          </a:xfrm>
          <a:prstGeom prst="rect">
            <a:avLst/>
          </a:prstGeom>
        </p:spPr>
      </p:pic>
      <p:pic>
        <p:nvPicPr>
          <p:cNvPr id="10" name="Picture 9" descr="A close-up of a padlock&#10;&#10;AI-generated content may be incorrect.">
            <a:extLst>
              <a:ext uri="{FF2B5EF4-FFF2-40B4-BE49-F238E27FC236}">
                <a16:creationId xmlns:a16="http://schemas.microsoft.com/office/drawing/2014/main" id="{B991E144-6509-6E76-EFAC-4E10F22DB8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088" y="2076575"/>
            <a:ext cx="971329" cy="10878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C8D29F2-FC59-D37B-66DD-EF543869A154}"/>
              </a:ext>
            </a:extLst>
          </p:cNvPr>
          <p:cNvSpPr/>
          <p:nvPr/>
        </p:nvSpPr>
        <p:spPr>
          <a:xfrm>
            <a:off x="1232616" y="2107457"/>
            <a:ext cx="734207" cy="1057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230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EE2A4-6CC7-FEE6-02C2-5A7CA21A5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8D38A3A-E80A-2BF7-E805-0B1C7743D93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EF0454-CE43-563D-E262-7B188F1C812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58D171D-8C96-DB3C-F8A8-F962FD872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48AB4E5-1752-E41D-3EB7-7057B63B9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EC2E0A5-69EA-0782-72A8-E9F234A17AA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Protecting Workbooks and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25680A-6A05-08AF-08EE-653267BDFC5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Protect Workbook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399474-5C48-5941-120D-21AAC6A2F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616" y="2113519"/>
            <a:ext cx="2745625" cy="10878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13F915-1272-6F60-05E2-F1D70B8237F2}"/>
              </a:ext>
            </a:extLst>
          </p:cNvPr>
          <p:cNvSpPr/>
          <p:nvPr/>
        </p:nvSpPr>
        <p:spPr>
          <a:xfrm>
            <a:off x="1871222" y="2113519"/>
            <a:ext cx="690824" cy="879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CF5160-FF43-53C6-046F-2AD06D950D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4114" y="1243820"/>
            <a:ext cx="2997025" cy="458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511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929A-2F79-76C5-4BAD-8F573114A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F7E393E-8D1D-29B5-368A-D5F074B0FBC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A3381CD-D2BA-652F-FD5E-8CDEB91FC6E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524E4B-0EFC-E17E-C811-E7AC3C8DB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02E62C-7B95-CD5F-13A8-A6345AF4D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71FA2A-3771-B434-C51A-17412CDD178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Protecting Workbooks and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A7DA6B-2D08-FBB7-4274-8D37E880DFE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Protect Individual Cells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745F84-6C0B-3432-DE65-1B8CE1591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52" y="2488741"/>
            <a:ext cx="3882049" cy="417591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E954A2-FFB4-4779-0785-65420830E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3123" y="1624295"/>
            <a:ext cx="4585887" cy="416482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7DE06D87-77EC-DE83-1CE7-D1EF91E6D320}"/>
              </a:ext>
            </a:extLst>
          </p:cNvPr>
          <p:cNvGrpSpPr/>
          <p:nvPr/>
        </p:nvGrpSpPr>
        <p:grpSpPr>
          <a:xfrm>
            <a:off x="4624562" y="1680206"/>
            <a:ext cx="1758985" cy="4214767"/>
            <a:chOff x="4624562" y="1680206"/>
            <a:chExt cx="1758985" cy="421476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781CD9D-BD40-1201-897B-0E4059C1A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24562" y="1680206"/>
              <a:ext cx="1758985" cy="4214767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B83A0A-1436-2B49-BD9F-229A2EA32B54}"/>
                </a:ext>
              </a:extLst>
            </p:cNvPr>
            <p:cNvSpPr/>
            <p:nvPr/>
          </p:nvSpPr>
          <p:spPr>
            <a:xfrm>
              <a:off x="4819369" y="4804913"/>
              <a:ext cx="1276631" cy="1811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3826EA5-6804-543B-86C8-C8A2C6CCD8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22" y="3588878"/>
            <a:ext cx="4472610" cy="41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76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D758-E275-AC4E-B3E5-504D1018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393C648-4CCC-F3B3-98F8-23EB0B810C7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35C7DAE-2C07-32A8-8696-8A8C582A54B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0348087-BA54-A69C-69F8-4E94952C2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6E381EA-E4EC-2542-7AFF-EF85BB93C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207BB43-DF42-12CC-9CDA-68403327A93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Protecting Workbooks and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8D5D8-8AA4-37F8-FB9E-2077EF569B4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Protect Individual Cells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035FBA-D494-D37D-5962-E7FC1601D6E4}"/>
              </a:ext>
            </a:extLst>
          </p:cNvPr>
          <p:cNvGrpSpPr/>
          <p:nvPr/>
        </p:nvGrpSpPr>
        <p:grpSpPr>
          <a:xfrm>
            <a:off x="746477" y="2203366"/>
            <a:ext cx="1275906" cy="3065559"/>
            <a:chOff x="4624562" y="1680206"/>
            <a:chExt cx="1758985" cy="421476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94C7CBE-164A-2793-5031-2F2355867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24562" y="1680206"/>
              <a:ext cx="1758985" cy="4214767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536DD15-634A-C324-6135-29974F4DDF9E}"/>
                </a:ext>
              </a:extLst>
            </p:cNvPr>
            <p:cNvSpPr/>
            <p:nvPr/>
          </p:nvSpPr>
          <p:spPr>
            <a:xfrm>
              <a:off x="4819369" y="4804913"/>
              <a:ext cx="1276631" cy="1811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94C8ABE3-A19F-F03C-3FF1-FF2E3032A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248" y="5473852"/>
            <a:ext cx="4472610" cy="4154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578EB9A-F9C9-8E13-57B3-B1BBAB27B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8264" y="1803378"/>
            <a:ext cx="7795953" cy="319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4881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59112-1141-BF28-C2C7-7E39ADC21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F8EFC6C-77E2-3544-19BD-8A6E06043F0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D7326A-A27A-8FCF-E48F-695E24791CA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2635664-CF76-FC65-D26E-5458457BE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C4EDA94-5039-3E26-011B-0F1919E85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275AB33-3FD5-A685-47CB-C8C7793222B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Protecting Workbooks and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6EAEC-D5C0-A50F-AD25-7216DBD39CB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Protect workbook with a Password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59B57BC-9E50-D1AF-99D4-EF84871B0367}"/>
              </a:ext>
            </a:extLst>
          </p:cNvPr>
          <p:cNvGrpSpPr/>
          <p:nvPr/>
        </p:nvGrpSpPr>
        <p:grpSpPr>
          <a:xfrm>
            <a:off x="3817493" y="1598451"/>
            <a:ext cx="4990077" cy="4337725"/>
            <a:chOff x="3817493" y="1598451"/>
            <a:chExt cx="4990077" cy="433772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FFDCD8A-754C-EBB0-D878-8F7FDDAD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7493" y="1598451"/>
              <a:ext cx="4990077" cy="4337725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B1E697-26C9-9EBA-8182-BCA906DDC2ED}"/>
                </a:ext>
              </a:extLst>
            </p:cNvPr>
            <p:cNvSpPr/>
            <p:nvPr/>
          </p:nvSpPr>
          <p:spPr>
            <a:xfrm>
              <a:off x="6573328" y="5503653"/>
              <a:ext cx="1199072" cy="1811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7757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46A24-37D0-F33B-90ED-64B81F3B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D40DD0E-D5F5-F42E-FE00-F1B4F84F8BE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A7D34EF-E623-E6E9-27D1-F19D27D54EC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E061BCD-C77D-49A2-8E5A-9ECDB1ABD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500FE6F-9E34-56C0-15E1-DB2730CC6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BF2445B-A0D5-1C5D-BCC7-72763C07487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Protecting Workbooks and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2F69A-86CB-1F4C-58CA-E3414283AB76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Protect workbook with a Password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14EADB7-C7C5-2E16-815E-26C18192094C}"/>
              </a:ext>
            </a:extLst>
          </p:cNvPr>
          <p:cNvGrpSpPr/>
          <p:nvPr/>
        </p:nvGrpSpPr>
        <p:grpSpPr>
          <a:xfrm>
            <a:off x="634346" y="3183147"/>
            <a:ext cx="3351058" cy="2834785"/>
            <a:chOff x="3817493" y="1598451"/>
            <a:chExt cx="4990077" cy="433772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FB24747-1000-1C8A-AB55-0E35EB708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7493" y="1598451"/>
              <a:ext cx="4990077" cy="4337725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98C188E-66B8-82D5-7A31-A581D799D9A1}"/>
                </a:ext>
              </a:extLst>
            </p:cNvPr>
            <p:cNvSpPr/>
            <p:nvPr/>
          </p:nvSpPr>
          <p:spPr>
            <a:xfrm>
              <a:off x="6573328" y="5503653"/>
              <a:ext cx="1199072" cy="1811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37AE5CD-30F9-CC9A-044C-16A78F3A0E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6563" y="2315026"/>
            <a:ext cx="3834654" cy="245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421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09269-411D-01E5-3CBB-A101539A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1C14EA-7E48-D90F-3C73-4296B754C40D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EBF1A7D-17F0-BB15-76C0-146C4E5F4A3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1AE76AF-33F6-E6CC-4655-073C91E36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A1F3C9-E17A-796D-299E-3DE73C17368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AA2355-4E77-77F2-A164-B1DC0091B37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9FF6DA5-85B9-3CC2-B42C-870325CF9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3051E8-86D9-1327-03E3-4F49042CF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0EAA72E-C647-C26A-9E8A-1D4AE33655BA}"/>
              </a:ext>
            </a:extLst>
          </p:cNvPr>
          <p:cNvSpPr/>
          <p:nvPr/>
        </p:nvSpPr>
        <p:spPr>
          <a:xfrm>
            <a:off x="2467156" y="2890174"/>
            <a:ext cx="106018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Spell Checking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BF062F-5EEB-99EF-FBE9-C1B510199BB8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95CD-BE22-F936-CD8E-C7090679BB6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5623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DADC-4088-FD5A-F86B-792E17CC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5510DD0-CF2E-9061-B8FE-0D57E7297C8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59EF74-23A6-16D0-5F24-DC76C8C4171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3461C2-5199-D76D-F58D-C134A84FB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8745D5-001A-C03F-AB70-127C939C6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2E01C0-852B-5ABE-74B2-44B44BAF66D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Spell Checking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4DBB-C202-E843-77C4-5EC41752D133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Spelling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E1181C-F7AB-6A83-DC8F-C640355FF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59" y="2235829"/>
            <a:ext cx="3635234" cy="187780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5EE2B9-F6C8-7758-47FF-B1E1F3E68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674" y="1477999"/>
            <a:ext cx="3480219" cy="1901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AAF134-A5EF-0DAE-F9F6-1061F57E64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2664" y="4918792"/>
            <a:ext cx="3445526" cy="52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4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3C5DD-9923-A334-C0E7-45E1BDC6E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98ADDCD-3640-0240-6768-BA828E23D2C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7DE246-2358-550F-9B4A-ACB6E91E674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3F1471-3D69-0B2B-EC80-786445D7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E09BFA7-21E0-AD69-8FDF-0CA6B100F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887F1D4-F500-4E84-74C8-AB3CAF11684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Spell Checking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DD6C8-EBA9-0B6E-6BB8-A1DFA87EE035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Spelling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47F18-D2C8-9CE5-FA0A-09BA6EE9A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520" y="1015111"/>
            <a:ext cx="5818975" cy="300583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760756-606D-CB35-3CD3-A3CAF8664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59" y="4606775"/>
            <a:ext cx="2488443" cy="13596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91BF17-E54C-AEFF-F2CB-968BD70C88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6802" y="5479098"/>
            <a:ext cx="2359737" cy="356582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D9D52A-A612-B6B2-2B96-6B188E9ED9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4993" y="3148617"/>
            <a:ext cx="4718648" cy="309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02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6B722-88BF-0C2A-85B7-A8D2BBECF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F0958F9-7027-A56A-E320-57E83F615E9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D4A18B2-198F-DCA3-D2DF-4C0BE325FA8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209CABF-1983-93E0-4554-FCF5F5828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C492495-14E0-8E08-CA6A-249175F8A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C40E292-46C0-2A6F-F0AC-D014D79B9CA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Spell Checking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1D7BB-B66C-CBE2-DF91-FCC3FBB6F522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Spelling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5666D3-F63B-8BA8-9175-3876A74A7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520" y="1015111"/>
            <a:ext cx="5818975" cy="300583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41B6BF-A89A-56D9-6DEA-056294395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59" y="4606775"/>
            <a:ext cx="2488443" cy="13596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FDC177-E775-8FFB-7ABA-6A13879CF1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6802" y="5479098"/>
            <a:ext cx="2359737" cy="356582"/>
          </a:xfrm>
          <a:prstGeom prst="rect">
            <a:avLst/>
          </a:prstGeom>
        </p:spPr>
      </p:pic>
      <p:pic>
        <p:nvPicPr>
          <p:cNvPr id="3" name="Picture 2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96DEA9EB-EF24-D4C1-6FA6-BEEE5E3006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9177" y="3299371"/>
            <a:ext cx="5557841" cy="158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79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1910C-04E8-7E8B-8267-7FE465EE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2F04F6E-EE19-780E-EB2F-7E427A50BB1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5D5A7B3-8C18-0D7E-0181-1C5A9D711CD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AE2FCFE-FC51-1C83-55C3-9C7DEF50A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EA52D29-D51D-D5B5-6FC5-B8CFF588E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E6D75A5-842F-CEBA-CBDC-550FBCA7D1B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Spell Checking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70D39-FAA1-C943-C0DA-84306D9FAC1A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Dictionary Language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1483BF-DF7C-6BC6-64BB-FA2585E09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59" y="4606775"/>
            <a:ext cx="2488443" cy="135966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F3EE5CA-BFA4-5E65-427E-1F5E19CA2344}"/>
              </a:ext>
            </a:extLst>
          </p:cNvPr>
          <p:cNvGrpSpPr/>
          <p:nvPr/>
        </p:nvGrpSpPr>
        <p:grpSpPr>
          <a:xfrm>
            <a:off x="2510810" y="1866094"/>
            <a:ext cx="3915870" cy="2565047"/>
            <a:chOff x="2510810" y="1866094"/>
            <a:chExt cx="3915870" cy="256504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F639631-BCE7-9092-F968-7C8BBD2ED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10810" y="1866094"/>
              <a:ext cx="3915870" cy="2565047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FE35289-695A-7023-CA38-D3D1D895CC66}"/>
                </a:ext>
              </a:extLst>
            </p:cNvPr>
            <p:cNvSpPr/>
            <p:nvPr/>
          </p:nvSpPr>
          <p:spPr>
            <a:xfrm>
              <a:off x="2510810" y="3821502"/>
              <a:ext cx="2897952" cy="3278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B77FDD8-D4C0-241F-5455-5D82FDC8F8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9487" y="1866094"/>
            <a:ext cx="7243705" cy="263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15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A058B-FA32-86F0-A7BC-7B87501E9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E99AE9A-2435-D3C7-4C12-CA8DDA379A6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14DC57-C579-843A-E161-B38110F0455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40E73C8-A82E-C5E5-D595-06664E888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FB8A926-75E9-0705-C296-A93D59F58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6E84326-953B-419C-3C18-FE6001BB801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Spell Checking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E1256-6BBE-0343-8139-79F77331CBE7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Dictionary Language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793C7B-E18C-D38D-AC9E-08E0CE434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59" y="4606775"/>
            <a:ext cx="2488443" cy="13596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FA957D-2D32-AB41-32FD-B7DC5C567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0432" y="1805216"/>
            <a:ext cx="6284342" cy="3247568"/>
          </a:xfrm>
          <a:prstGeom prst="rect">
            <a:avLst/>
          </a:prstGeom>
        </p:spPr>
      </p:pic>
      <p:pic>
        <p:nvPicPr>
          <p:cNvPr id="5" name="Picture 4" descr="A screenshot of a computer error message&#10;&#10;AI-generated content may be incorrect.">
            <a:extLst>
              <a:ext uri="{FF2B5EF4-FFF2-40B4-BE49-F238E27FC236}">
                <a16:creationId xmlns:a16="http://schemas.microsoft.com/office/drawing/2014/main" id="{E301CA40-9572-5605-674E-B355B836F8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15" y="4201158"/>
            <a:ext cx="3553100" cy="14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32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9019E-316F-BCF5-9CB6-1CB1F13E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D19CC12-8800-A709-ABDB-0E2E8AD195C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3A497BB-3425-6256-1DB6-F97C24A9960C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8D925B-F3F5-00CF-03F3-040F945A8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AC386C-1587-1F47-F9E1-2A7A6ABCFF5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8B2316-66B1-87D3-7FED-D59E2F268AD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FA6285-170A-B5A3-FA6D-C5462DFE1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B8C4743-1FBF-9B14-42AD-55084D284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A48A200-73F8-0E8F-15BE-92AA341F00F2}"/>
              </a:ext>
            </a:extLst>
          </p:cNvPr>
          <p:cNvSpPr/>
          <p:nvPr/>
        </p:nvSpPr>
        <p:spPr>
          <a:xfrm>
            <a:off x="2662140" y="2963073"/>
            <a:ext cx="987724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Inspecting the Workbook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AEB183-D751-FD5B-A6A8-89DF9D7B965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82527-A1C5-0FAB-47D5-210E6E37B3E5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561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7FBD-80B7-4B3A-6800-AFC30041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1A9FBC4-C1C3-4C3D-782F-A320583339E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0BB652-1591-86E8-8D55-86C5D46E4B5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C240B8-9AC1-5129-22A3-98022E69D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2FC98F-6926-6CE3-DE8A-B01360874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0507B1B-240E-7C9B-9735-1CE65878A68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Inspecting the Workbook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C6D448-32FF-E966-6906-2D4184F34A0A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Workbook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1D0D32-E90B-728B-00F3-80FE4794A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915" y="1056137"/>
            <a:ext cx="5119473" cy="474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1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E52DB-EF4A-A150-4D19-750A3761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E1C008B-5802-FF08-D87E-E4FA2AD12D3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11E34B-3F02-CE55-A41E-1DC1E8B65DB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D054125-9A6C-8AD4-851D-AB7E0581C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92DD440-400A-13DA-58F6-1785BD743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4CDF8B7-5D59-1043-D11E-70700D196C3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Inspecting the Workbook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676A66-0D25-4019-28EE-F20244F53C8C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Workbook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083F5F-69EB-B18E-E685-09FF7953B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557" y="2288915"/>
            <a:ext cx="3653166" cy="3386466"/>
          </a:xfrm>
          <a:prstGeom prst="rect">
            <a:avLst/>
          </a:prstGeom>
        </p:spPr>
      </p:pic>
      <p:pic>
        <p:nvPicPr>
          <p:cNvPr id="2" name="Picture 1" descr="A screenshot of a phone&#10;&#10;AI-generated content may be incorrect.">
            <a:extLst>
              <a:ext uri="{FF2B5EF4-FFF2-40B4-BE49-F238E27FC236}">
                <a16:creationId xmlns:a16="http://schemas.microsoft.com/office/drawing/2014/main" id="{ABD5FC06-CAFA-920E-564D-BCB5A0410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960" y="514006"/>
            <a:ext cx="2636881" cy="547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31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2738C-2407-3740-9C27-A200AAF02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0082EEA-8B25-1522-E672-1BCAFE070D2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252A72-D8BE-384E-1BED-D0BC67DB1C4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74394C-ED41-8E22-7775-3DBE3C566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AC3C734-CC5E-B252-DE0A-5E8222BA9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208D6DF-92FB-B559-F9A6-9066DB11C5D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Inspecting the Workbook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3435D-F0B1-0F29-E6B6-8448FA508B80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Inspect Workbook Section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A09E61-56BA-190E-C628-90FDB15FD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557" y="2288915"/>
            <a:ext cx="3653166" cy="33864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D2B407-27B0-D10F-C1CD-993E28314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0340" y="1848351"/>
            <a:ext cx="5410608" cy="17364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079657-D3ED-9399-726C-6E1A02BFC1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0340" y="1848351"/>
            <a:ext cx="5410608" cy="462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060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2E15E-2FB7-B5DA-C808-CE38EDD3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6C07A4B-E0F4-2523-937B-AD414E50779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15DCABC-944E-0EC3-BB06-37DC486A953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2862037-949B-DAAF-E216-4803F3342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458B40-638D-A9E5-C658-99C2F08D1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68883FE-A70C-F559-CE3E-7DA5E3ED01C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Inspecting the Workbook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B9CCD-5287-706D-3819-15D6F39F21CD}"/>
              </a:ext>
            </a:extLst>
          </p:cNvPr>
          <p:cNvSpPr txBox="1"/>
          <p:nvPr/>
        </p:nvSpPr>
        <p:spPr>
          <a:xfrm>
            <a:off x="1023749" y="116507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Inspect Document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6216B3-820D-1EDD-5C73-260154490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4" y="3517588"/>
            <a:ext cx="2636679" cy="22553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DB6FD82-22C1-836F-6E69-DB103D727028}"/>
              </a:ext>
            </a:extLst>
          </p:cNvPr>
          <p:cNvSpPr/>
          <p:nvPr/>
        </p:nvSpPr>
        <p:spPr>
          <a:xfrm>
            <a:off x="1138687" y="4270075"/>
            <a:ext cx="2363638" cy="500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9CA0EE-44F5-9CC3-51EF-A0C20FB94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260" y="1598115"/>
            <a:ext cx="4732535" cy="432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662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E213F-2995-DA37-5936-445026DF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42CC27D-ED78-67F8-8229-74DE311AAC1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C8B5B2-5E36-D92A-BE3E-5BA4300D91F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AA08E2-EF20-C3B9-EA51-23ECD42DB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D1651A2-B88D-BD5A-1A18-593F6A9B2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51FAC8-0F12-A083-CBEF-650FD4B2D56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Inspecting the Workbook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8D263-48DF-C509-98EA-2EC1ABFC1D8B}"/>
              </a:ext>
            </a:extLst>
          </p:cNvPr>
          <p:cNvSpPr txBox="1"/>
          <p:nvPr/>
        </p:nvSpPr>
        <p:spPr>
          <a:xfrm>
            <a:off x="1023749" y="116507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Inspect Document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6C24E5-0EEA-2CF0-3F2A-1542A69B6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4" y="3517588"/>
            <a:ext cx="2636679" cy="22553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777DE4-ECF9-25B5-4BE1-3B5D49811955}"/>
              </a:ext>
            </a:extLst>
          </p:cNvPr>
          <p:cNvSpPr/>
          <p:nvPr/>
        </p:nvSpPr>
        <p:spPr>
          <a:xfrm>
            <a:off x="1138687" y="4270075"/>
            <a:ext cx="2363638" cy="500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01FBE8-1CA3-75B5-E155-E79859337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822" y="2150645"/>
            <a:ext cx="5958020" cy="324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74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5B43-338F-15A7-2571-D76E42155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9E8F02C-438D-E9A4-A0D3-2A7E58CECCA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777D19-0311-2472-B31B-6B8CC1A67DD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0FCDB9-EFA7-1815-73CF-D8B4C00A8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335C04-4E05-D550-F9DE-E0131B3F8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DA234DA-0223-A0E1-9FA6-003D5AB1A1E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Inspecting the Workbook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344D51-469F-1B49-DCE3-6056611DD274}"/>
              </a:ext>
            </a:extLst>
          </p:cNvPr>
          <p:cNvSpPr txBox="1"/>
          <p:nvPr/>
        </p:nvSpPr>
        <p:spPr>
          <a:xfrm>
            <a:off x="1023749" y="116507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Inspect Document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E98AD-D5BF-0C28-1A39-B10F1B090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4" y="3517588"/>
            <a:ext cx="2636679" cy="22553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2C98614-5FDD-4BF0-4417-A79220E22390}"/>
              </a:ext>
            </a:extLst>
          </p:cNvPr>
          <p:cNvSpPr/>
          <p:nvPr/>
        </p:nvSpPr>
        <p:spPr>
          <a:xfrm>
            <a:off x="1138687" y="4753150"/>
            <a:ext cx="2363638" cy="500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1B1985-02AE-981A-F070-8301B27C4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5575" y="1647171"/>
            <a:ext cx="3932493" cy="364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072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EC2DE-B1AA-6CFC-1C0C-88601EFB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F32FA78-9EAB-6B2B-925C-53FC5488CF1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339C9AB-B0A5-CED2-6788-4E446E00665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886AE78-F53A-7483-B1F1-63E635388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1B69AAA-3966-92EB-CC58-94EAD7A1C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AF6D14B-6120-3E74-1304-9C494F21C22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Inspecting the Workbook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FC81B-F557-5151-008F-4C1423F93745}"/>
              </a:ext>
            </a:extLst>
          </p:cNvPr>
          <p:cNvSpPr txBox="1"/>
          <p:nvPr/>
        </p:nvSpPr>
        <p:spPr>
          <a:xfrm>
            <a:off x="1023749" y="116507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Inspect Document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7B2331-455E-D0B9-DE0F-F5BA60D22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4" y="3517588"/>
            <a:ext cx="2636679" cy="22553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AE5292B-B877-446D-1107-4766CB836300}"/>
              </a:ext>
            </a:extLst>
          </p:cNvPr>
          <p:cNvSpPr/>
          <p:nvPr/>
        </p:nvSpPr>
        <p:spPr>
          <a:xfrm>
            <a:off x="1138687" y="4753150"/>
            <a:ext cx="2363638" cy="500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594A8A-6FBB-0CE8-42C1-F68A9105C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669" y="1932139"/>
            <a:ext cx="10733052" cy="521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3FA850-B98D-E0F2-1A93-C2982B845F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489" y="2607379"/>
            <a:ext cx="2188350" cy="344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6382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EA584-EF09-5736-9341-981645D1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DD87BFF-9BF2-D19E-1D33-F99627571F0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01E53A9-F19F-CECF-3A11-1FC9D5F3544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1069C69-94F3-82FB-5D0E-57B1FD66F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85F9F37-2F00-F73B-88BD-744FC6242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FA5358A-8A8B-E7F5-8E95-848D6771BEF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Inspecting the Workbook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EC283-0B69-C1C9-2BA9-1A05F3B34BFD}"/>
              </a:ext>
            </a:extLst>
          </p:cNvPr>
          <p:cNvSpPr txBox="1"/>
          <p:nvPr/>
        </p:nvSpPr>
        <p:spPr>
          <a:xfrm>
            <a:off x="1023749" y="116507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Inspect Document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87B5A-2492-B622-9F65-33502F64A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4" y="3517588"/>
            <a:ext cx="2636679" cy="22553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D98E8FF-E455-DF52-1AA7-9D56BA26C72E}"/>
              </a:ext>
            </a:extLst>
          </p:cNvPr>
          <p:cNvSpPr/>
          <p:nvPr/>
        </p:nvSpPr>
        <p:spPr>
          <a:xfrm>
            <a:off x="1138687" y="4753150"/>
            <a:ext cx="2363638" cy="500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4E784-157B-8C0E-2F3D-C4AE4BE66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9659" y="2143354"/>
            <a:ext cx="9996799" cy="52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66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75188-6154-2D8F-5BA5-897837465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432D2B4-E1B9-034E-6393-D7A3E43FF9F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F16485-B28E-160B-BA44-9EB270514DD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F7D8A5A-CFB4-DF75-3AEE-1C6B01C54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B8385C6-BB55-DEE7-788D-29F36CCED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46F3433-9413-9203-E2BD-1D04E5C2433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Inspecting the Workbook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64BF1-2B9C-44DD-D73F-DD4F16FF7D97}"/>
              </a:ext>
            </a:extLst>
          </p:cNvPr>
          <p:cNvSpPr txBox="1"/>
          <p:nvPr/>
        </p:nvSpPr>
        <p:spPr>
          <a:xfrm>
            <a:off x="1023749" y="116507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Inspect Document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F021A-1143-B4AB-D129-3ECAC397D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4" y="3517588"/>
            <a:ext cx="2636679" cy="22553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8AD4A8-8560-ACCF-C39B-6A344A989093}"/>
              </a:ext>
            </a:extLst>
          </p:cNvPr>
          <p:cNvSpPr/>
          <p:nvPr/>
        </p:nvSpPr>
        <p:spPr>
          <a:xfrm>
            <a:off x="1138687" y="4753150"/>
            <a:ext cx="2363638" cy="500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35B148-D6B2-44A2-5FF4-9CBF46ABA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940" y="1982155"/>
            <a:ext cx="3159538" cy="2893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64EC2F-BA4E-5514-6B51-00A38D4F70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9847" y="1787804"/>
            <a:ext cx="2316734" cy="30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236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C4D52-5198-0AFB-8BC7-191AE7C53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92D5AF-5591-E3A1-AF4B-F78AF371C30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85F331-6213-0E36-BAD1-B1766ECEAB2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F41AECF-83DD-826C-71F5-C9C012F56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E92D76A-33A8-3C84-5882-D4E9C247A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35998DC-69CB-CB41-47A5-B44B30A12A9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Inspecting the Workbook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0C3FF-1F89-1D48-8D0A-CD941D203F37}"/>
              </a:ext>
            </a:extLst>
          </p:cNvPr>
          <p:cNvSpPr txBox="1"/>
          <p:nvPr/>
        </p:nvSpPr>
        <p:spPr>
          <a:xfrm>
            <a:off x="1023749" y="116507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Inspect Document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847D23-85A3-C01B-5B8A-A83199186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4" y="3517588"/>
            <a:ext cx="2636679" cy="22553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7ABF72-9567-6578-AA22-0A84134BCAC7}"/>
              </a:ext>
            </a:extLst>
          </p:cNvPr>
          <p:cNvSpPr/>
          <p:nvPr/>
        </p:nvSpPr>
        <p:spPr>
          <a:xfrm>
            <a:off x="1138687" y="4753150"/>
            <a:ext cx="2363638" cy="500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69556F-6E9A-0F4D-EB7A-1CF510179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0845" y="2106118"/>
            <a:ext cx="3246994" cy="283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0372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E654-018F-EA3C-92F5-4EB7EAA26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185E0B4-AB30-DD08-1C83-9B257C6D857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E56CCF1-F9CF-475E-6741-EE164FA217B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32B5063-FA26-1ECE-772A-F8271B252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0EC02F-5778-679E-C8AC-9FD047444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C1F8941-FE13-ACF2-B9CB-4BC77E8C213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Inspecting the Workbook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323DCC-CCF4-1E4E-98DB-C3572CB26B62}"/>
              </a:ext>
            </a:extLst>
          </p:cNvPr>
          <p:cNvSpPr txBox="1"/>
          <p:nvPr/>
        </p:nvSpPr>
        <p:spPr>
          <a:xfrm>
            <a:off x="1023749" y="116507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Inspect Document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E29B2E-AF03-FFF5-3CAB-B207DEADB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4" y="3517588"/>
            <a:ext cx="2636679" cy="22553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5EA0C9-E68A-EC59-E9FB-2EA25D1B4F87}"/>
              </a:ext>
            </a:extLst>
          </p:cNvPr>
          <p:cNvSpPr/>
          <p:nvPr/>
        </p:nvSpPr>
        <p:spPr>
          <a:xfrm>
            <a:off x="1138687" y="4753150"/>
            <a:ext cx="2363638" cy="500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5C288A-809A-8AE8-6C08-0ED517163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6091" y="2242772"/>
            <a:ext cx="4350840" cy="251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5918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A95EA-AD92-F580-B193-EB744334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792F993-7D20-110E-292B-71977CF2A9B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358F61-8940-50D0-81AD-B7611276EDC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A94AB36-19F6-A71E-8C84-07C86F97B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792C4EC-94A7-6468-F643-2B30B6E3B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80DA31A-5EA9-5904-72C9-8E71F6B332A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Inspecting the Workbook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0E8C6D-99A4-C367-0BDA-A769506FD74E}"/>
              </a:ext>
            </a:extLst>
          </p:cNvPr>
          <p:cNvSpPr txBox="1"/>
          <p:nvPr/>
        </p:nvSpPr>
        <p:spPr>
          <a:xfrm>
            <a:off x="1023749" y="116507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Check Compatibility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4A9CD-64CC-76CF-3487-8C4316D7A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4" y="3517588"/>
            <a:ext cx="2636679" cy="22553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B90281-8BC0-556E-8D04-6677E0928F59}"/>
              </a:ext>
            </a:extLst>
          </p:cNvPr>
          <p:cNvSpPr/>
          <p:nvPr/>
        </p:nvSpPr>
        <p:spPr>
          <a:xfrm>
            <a:off x="1138687" y="5227604"/>
            <a:ext cx="2363638" cy="500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403D7E-E433-2D25-FD88-1538A8F20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7992" y="672419"/>
            <a:ext cx="4537020" cy="59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176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BD7C4-214E-B7C8-F837-30D2B4FE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D622A91-B4C4-8DF1-DDE1-B610260D4DB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F8B5AC-5CFF-EE20-1E1C-9BFB625F3F1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45435A7-C435-0EEE-CAD0-43F8BC7CE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DD7520-98B4-B311-0AD6-5EE1C5CA6EF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2A7447-CD28-47A1-FA38-AF637CEE11F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C07E927-3DFF-E020-1CB8-FB5D4B365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63B9643-9BEC-CA32-3459-1FE5BAA03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E1C5D87-D88C-2FC2-15F9-9D007307088C}"/>
              </a:ext>
            </a:extLst>
          </p:cNvPr>
          <p:cNvSpPr/>
          <p:nvPr/>
        </p:nvSpPr>
        <p:spPr>
          <a:xfrm>
            <a:off x="2829464" y="2688319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Saving the Workbook in Different Formats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A75855-99BD-7AC3-C870-F1FCF532367F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D2939-033B-7B4E-DADA-622ABD9091A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7716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6D58-5D53-A73C-E6CA-C79379C7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4A3C939-777A-3DFF-E04D-34FACBD0B79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386E3-0482-9271-1B2C-A9DDF0CF110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BDA44D-647E-6131-B3E6-583777AA9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7B57F08-8F1D-DC84-9A26-1E1D7BFB6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0161EEA-306C-A7B5-6AD6-0ADCDEC8CC7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Saving the Workbook in Different Formats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ECC82-2BD8-4243-C53B-37EC416DEA7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Save As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47228F-5307-2B7B-9345-DC3D84D88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590" y="1734165"/>
            <a:ext cx="4291956" cy="33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8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CD46F-4131-5B8A-6ED6-22446A7C4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83EC2BE-A76A-1FDD-063A-1547445BDF3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3420E9-F420-63E7-1831-0F34F7C8EB0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5D2AC84-21B5-5C03-6108-461BFD215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B7CE80E-DC78-8F7E-DFA9-6DD0A13A6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264001C-7BAF-8A9A-C2EF-115D34FCE79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Saving the Workbook in Different Formats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68DAB-63A1-5889-F7E4-DFC38A0E31BB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Save 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6B5127-E882-0C38-7260-E489B3929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035" y="1680207"/>
            <a:ext cx="7374228" cy="378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14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25FFF-2BF6-9059-4A86-F071F0416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9C0A53-DFC1-25FB-40C5-2924FF84D80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D893D74-BD47-BF49-FBF9-C06330AC0A4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A09F128-ED82-02B7-0787-4587CA103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3EC8576-39BF-02EA-DB60-A792F0852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7E4AE0A-64E2-5E18-11F9-CB730F9B6C2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Saving the Workbook in Different Formats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12C29-57CE-A3D7-E9A6-4F245CE86F5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Export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DA81B2-ED6F-542C-EC33-F62AB5DF0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798" y="1362323"/>
            <a:ext cx="7159866" cy="444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658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3F189-398C-5A15-1CBB-CBAA1E429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1C7E6A4-B7AE-CC1C-2109-30752B5748E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8C8D7D-7999-DB06-3A00-254B22CA056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3052FB8-32A2-AE4A-8A54-75348E779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0AAC4DC-F428-CCB3-3210-05CFAD09E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FEBA3F9-AA79-9CAA-8B77-F586105C8E2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Saving the Workbook in Different Formats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45B44-2FAF-BCE1-040D-3090D5CE9A9B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Export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24F0F1-B90E-7960-C6E8-8CD66F2EF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4201" y="1598451"/>
            <a:ext cx="7504697" cy="413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37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49A50-E724-16BB-7EB1-41A5CD6BF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D6D7BF2-2692-F76D-F510-A9D47517905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5E7D94-1035-9B29-BB69-36C3502BE26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AAB6B8A-2A26-7D75-4A9F-0AC00E187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1939892-30AA-8634-7A0E-A2AA10832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7960682-2432-9FF1-266F-A7DFCD96F32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Saving the Workbook in Different Formats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0893BA-7328-E7C8-117D-A4D484D02A0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Export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9FDF48-F6FF-A67D-1170-4A86B03DA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4" y="3429000"/>
            <a:ext cx="3753323" cy="20688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1CD690D-6960-3335-4161-73BD08D80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307" y="1719183"/>
            <a:ext cx="5595622" cy="22613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7A0731-AAD0-58B4-C80F-78603D26F93E}"/>
              </a:ext>
            </a:extLst>
          </p:cNvPr>
          <p:cNvSpPr/>
          <p:nvPr/>
        </p:nvSpPr>
        <p:spPr>
          <a:xfrm>
            <a:off x="2398143" y="4463424"/>
            <a:ext cx="897148" cy="2811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9016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298E-4A1F-B2CF-AB47-10BE9A93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9C86C6E-ADEC-35B7-2ED4-7D9CA309A20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41EC6D2-84AB-0531-03C2-90A5BAE4EDC7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79C2658-3BB8-5877-90AB-9E22C4714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06282-E3BE-E703-AC1D-B0875EE22E2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8D3D94-1C3C-044A-D9F7-9C81857F0AD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521F90-8347-64C3-1CEF-58D2838F2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E922CD-9EC1-0BED-9FFC-F2450A874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A2D961F-11A9-03CA-3FFD-35110BC9E25E}"/>
              </a:ext>
            </a:extLst>
          </p:cNvPr>
          <p:cNvSpPr/>
          <p:nvPr/>
        </p:nvSpPr>
        <p:spPr>
          <a:xfrm>
            <a:off x="1207698" y="3226706"/>
            <a:ext cx="1084627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Sharing Workbooks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052C5-0A0B-4147-EBF9-ADE7C83EF780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64B2E-C5D9-1E89-5939-8BB4C27D3741}"/>
              </a:ext>
            </a:extLst>
          </p:cNvPr>
          <p:cNvSpPr/>
          <p:nvPr/>
        </p:nvSpPr>
        <p:spPr>
          <a:xfrm>
            <a:off x="570235" y="1737554"/>
            <a:ext cx="418381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Exam 10</a:t>
            </a:r>
          </a:p>
        </p:txBody>
      </p:sp>
    </p:spTree>
    <p:extLst>
      <p:ext uri="{BB962C8B-B14F-4D97-AF65-F5344CB8AC3E}">
        <p14:creationId xmlns:p14="http://schemas.microsoft.com/office/powerpoint/2010/main" val="252668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11D9F-39BD-EFAD-F025-E7750B014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E8C5C3A-396F-AF65-B10B-85C269D949C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1E5708-7906-E4EF-DB04-B83D3ABE587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18F8F71-C863-547F-0E21-C77F1F87E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16E8C30-600F-1A44-B0F7-7EA16228E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98868E-BEFC-143B-EE0B-A247BD57E98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</a:t>
            </a:r>
            <a:r>
              <a:rPr lang="en-US" sz="4000" b="1" dirty="0">
                <a:solidFill>
                  <a:schemeClr val="bg1"/>
                </a:solidFill>
                <a:latin typeface="Montserrat Bold" panose="00000800000000000000" pitchFamily="2" charset="0"/>
              </a:rPr>
              <a:t>10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: Sharing Workbooks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8F549B-8AF6-0C8A-D592-3E54DE2B6530}"/>
              </a:ext>
            </a:extLst>
          </p:cNvPr>
          <p:cNvSpPr txBox="1"/>
          <p:nvPr/>
        </p:nvSpPr>
        <p:spPr>
          <a:xfrm>
            <a:off x="1209855" y="1224235"/>
            <a:ext cx="8822665" cy="128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Spell Checking</a:t>
            </a:r>
          </a:p>
          <a:p>
            <a:pPr marL="342900" marR="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 the </a:t>
            </a: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'P&amp;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L' worksheet, run a spell check and correct any errors. </a:t>
            </a:r>
          </a:p>
          <a:p>
            <a:pPr marL="342900" marR="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Ensure that the spell check has picked up </a:t>
            </a: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errors.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Review </a:t>
            </a: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'Proofing Settings'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if the spell check isn't picking up all incorrect words.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E0CD9-9BD2-B4C6-8E00-366CF2177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099" y="2602682"/>
            <a:ext cx="4590421" cy="348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3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DB70D-7F24-BAF6-AD0C-FEF0430D9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3FC291F-9862-BE1D-00B5-4A93B0783B4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86DCFAD-6FB5-0C34-BF9F-9469A4266FE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9DB723-E1DF-C929-BB2E-A00991B3F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A471415-BB3A-92FA-046A-ADAF8AC31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C5F57A9-D180-AC52-5A98-966BC90E989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</a:t>
            </a:r>
            <a:r>
              <a:rPr lang="en-US" sz="4000" b="1" dirty="0">
                <a:solidFill>
                  <a:schemeClr val="bg1"/>
                </a:solidFill>
                <a:latin typeface="Montserrat Bold" panose="00000800000000000000" pitchFamily="2" charset="0"/>
              </a:rPr>
              <a:t>10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: Sharing Workbooks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2D8E6-19FB-D60E-CB6A-E62DF9BA261B}"/>
              </a:ext>
            </a:extLst>
          </p:cNvPr>
          <p:cNvSpPr txBox="1"/>
          <p:nvPr/>
        </p:nvSpPr>
        <p:spPr>
          <a:xfrm>
            <a:off x="1330625" y="1298472"/>
            <a:ext cx="9952726" cy="2213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Protecting Cells and Worksheets</a:t>
            </a:r>
          </a:p>
          <a:p>
            <a:pPr marL="342900" marR="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Apply protection to the worksheet so that only the cells that </a:t>
            </a:r>
            <a:r>
              <a:rPr lang="en-US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 NOT 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contain formulas can be edited.</a:t>
            </a:r>
          </a:p>
          <a:p>
            <a:pPr marL="342900" marR="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Unlock all cells that contain </a:t>
            </a:r>
            <a:r>
              <a:rPr lang="en-US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'Constants (Numbers)'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marL="457200" marR="0">
              <a:lnSpc>
                <a:spcPct val="107000"/>
              </a:lnSpc>
              <a:buNone/>
            </a:pP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457200" marR="0">
              <a:lnSpc>
                <a:spcPct val="107000"/>
              </a:lnSpc>
              <a:buNone/>
            </a:pPr>
            <a:r>
              <a:rPr lang="en-US" sz="16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(HINT: To make this easier, consider using </a:t>
            </a:r>
            <a:r>
              <a:rPr lang="en-US" sz="16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'</a:t>
            </a:r>
            <a:r>
              <a:rPr lang="en-US" sz="1600" b="1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GoTo</a:t>
            </a:r>
            <a:r>
              <a:rPr lang="en-US" sz="16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Special' </a:t>
            </a:r>
            <a:r>
              <a:rPr lang="en-US" sz="16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select all constants.)</a:t>
            </a:r>
            <a:endParaRPr lang="en-U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>
              <a:lnSpc>
                <a:spcPct val="107000"/>
              </a:lnSpc>
              <a:buNone/>
            </a:pPr>
            <a:r>
              <a:rPr lang="en-US" sz="16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Protect the worksheet with a password.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Test the protection is working by editing a cell that contains a formula.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7CB647-C82E-96A3-F0B5-71B5CC429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553" y="3678841"/>
            <a:ext cx="5297883" cy="223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257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2058</TotalTime>
  <Words>431</Words>
  <Application>Microsoft Office PowerPoint</Application>
  <PresentationFormat>Widescreen</PresentationFormat>
  <Paragraphs>124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53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Montserrat SemiBold</vt:lpstr>
      <vt:lpstr>Open Sans SemiBold</vt:lpstr>
      <vt:lpstr>Retrospect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 Fawzy</cp:lastModifiedBy>
  <cp:revision>247</cp:revision>
  <dcterms:created xsi:type="dcterms:W3CDTF">2016-11-14T07:59:55Z</dcterms:created>
  <dcterms:modified xsi:type="dcterms:W3CDTF">2025-10-15T12:33:19Z</dcterms:modified>
</cp:coreProperties>
</file>