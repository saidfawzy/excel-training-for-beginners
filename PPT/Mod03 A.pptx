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  <p:sldMasterId id="2147483718" r:id="rId2"/>
    <p:sldMasterId id="2147483730" r:id="rId3"/>
  </p:sldMasterIdLst>
  <p:notesMasterIdLst>
    <p:notesMasterId r:id="rId96"/>
  </p:notesMasterIdLst>
  <p:sldIdLst>
    <p:sldId id="445" r:id="rId4"/>
    <p:sldId id="461" r:id="rId5"/>
    <p:sldId id="467" r:id="rId6"/>
    <p:sldId id="605" r:id="rId7"/>
    <p:sldId id="565" r:id="rId8"/>
    <p:sldId id="469" r:id="rId9"/>
    <p:sldId id="614" r:id="rId10"/>
    <p:sldId id="615" r:id="rId11"/>
    <p:sldId id="616" r:id="rId12"/>
    <p:sldId id="621" r:id="rId13"/>
    <p:sldId id="617" r:id="rId14"/>
    <p:sldId id="618" r:id="rId15"/>
    <p:sldId id="574" r:id="rId16"/>
    <p:sldId id="586" r:id="rId17"/>
    <p:sldId id="622" r:id="rId18"/>
    <p:sldId id="623" r:id="rId19"/>
    <p:sldId id="630" r:id="rId20"/>
    <p:sldId id="631" r:id="rId21"/>
    <p:sldId id="632" r:id="rId22"/>
    <p:sldId id="633" r:id="rId23"/>
    <p:sldId id="634" r:id="rId24"/>
    <p:sldId id="635" r:id="rId25"/>
    <p:sldId id="636" r:id="rId26"/>
    <p:sldId id="639" r:id="rId27"/>
    <p:sldId id="575" r:id="rId28"/>
    <p:sldId id="593" r:id="rId29"/>
    <p:sldId id="640" r:id="rId30"/>
    <p:sldId id="641" r:id="rId31"/>
    <p:sldId id="642" r:id="rId32"/>
    <p:sldId id="643" r:id="rId33"/>
    <p:sldId id="644" r:id="rId34"/>
    <p:sldId id="576" r:id="rId35"/>
    <p:sldId id="597" r:id="rId36"/>
    <p:sldId id="645" r:id="rId37"/>
    <p:sldId id="646" r:id="rId38"/>
    <p:sldId id="647" r:id="rId39"/>
    <p:sldId id="577" r:id="rId40"/>
    <p:sldId id="604" r:id="rId41"/>
    <p:sldId id="648" r:id="rId42"/>
    <p:sldId id="649" r:id="rId43"/>
    <p:sldId id="650" r:id="rId44"/>
    <p:sldId id="653" r:id="rId45"/>
    <p:sldId id="606" r:id="rId46"/>
    <p:sldId id="607" r:id="rId47"/>
    <p:sldId id="654" r:id="rId48"/>
    <p:sldId id="655" r:id="rId49"/>
    <p:sldId id="656" r:id="rId50"/>
    <p:sldId id="657" r:id="rId51"/>
    <p:sldId id="658" r:id="rId52"/>
    <p:sldId id="659" r:id="rId53"/>
    <p:sldId id="660" r:id="rId54"/>
    <p:sldId id="665" r:id="rId55"/>
    <p:sldId id="666" r:id="rId56"/>
    <p:sldId id="661" r:id="rId57"/>
    <p:sldId id="667" r:id="rId58"/>
    <p:sldId id="662" r:id="rId59"/>
    <p:sldId id="663" r:id="rId60"/>
    <p:sldId id="668" r:id="rId61"/>
    <p:sldId id="608" r:id="rId62"/>
    <p:sldId id="609" r:id="rId63"/>
    <p:sldId id="669" r:id="rId64"/>
    <p:sldId id="670" r:id="rId65"/>
    <p:sldId id="671" r:id="rId66"/>
    <p:sldId id="672" r:id="rId67"/>
    <p:sldId id="673" r:id="rId68"/>
    <p:sldId id="674" r:id="rId69"/>
    <p:sldId id="610" r:id="rId70"/>
    <p:sldId id="611" r:id="rId71"/>
    <p:sldId id="699" r:id="rId72"/>
    <p:sldId id="675" r:id="rId73"/>
    <p:sldId id="676" r:id="rId74"/>
    <p:sldId id="677" r:id="rId75"/>
    <p:sldId id="681" r:id="rId76"/>
    <p:sldId id="682" r:id="rId77"/>
    <p:sldId id="683" r:id="rId78"/>
    <p:sldId id="686" r:id="rId79"/>
    <p:sldId id="684" r:id="rId80"/>
    <p:sldId id="685" r:id="rId81"/>
    <p:sldId id="612" r:id="rId82"/>
    <p:sldId id="613" r:id="rId83"/>
    <p:sldId id="687" r:id="rId84"/>
    <p:sldId id="688" r:id="rId85"/>
    <p:sldId id="689" r:id="rId86"/>
    <p:sldId id="690" r:id="rId87"/>
    <p:sldId id="691" r:id="rId88"/>
    <p:sldId id="692" r:id="rId89"/>
    <p:sldId id="572" r:id="rId90"/>
    <p:sldId id="579" r:id="rId91"/>
    <p:sldId id="697" r:id="rId92"/>
    <p:sldId id="693" r:id="rId93"/>
    <p:sldId id="698" r:id="rId94"/>
    <p:sldId id="460" r:id="rId9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5E3E"/>
    <a:srgbClr val="185C37"/>
    <a:srgbClr val="0285CB"/>
    <a:srgbClr val="002060"/>
    <a:srgbClr val="185194"/>
    <a:srgbClr val="DCE5F4"/>
    <a:srgbClr val="C5E0F5"/>
    <a:srgbClr val="DEE6F4"/>
    <a:srgbClr val="55A2EA"/>
    <a:srgbClr val="F585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2996" autoAdjust="0"/>
  </p:normalViewPr>
  <p:slideViewPr>
    <p:cSldViewPr snapToGrid="0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84" Type="http://schemas.openxmlformats.org/officeDocument/2006/relationships/slide" Target="slides/slide81.xml"/><Relationship Id="rId89" Type="http://schemas.openxmlformats.org/officeDocument/2006/relationships/slide" Target="slides/slide86.xml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slide" Target="slides/slide71.xml"/><Relationship Id="rId79" Type="http://schemas.openxmlformats.org/officeDocument/2006/relationships/slide" Target="slides/slide76.xml"/><Relationship Id="rId5" Type="http://schemas.openxmlformats.org/officeDocument/2006/relationships/slide" Target="slides/slide2.xml"/><Relationship Id="rId90" Type="http://schemas.openxmlformats.org/officeDocument/2006/relationships/slide" Target="slides/slide87.xml"/><Relationship Id="rId95" Type="http://schemas.openxmlformats.org/officeDocument/2006/relationships/slide" Target="slides/slide92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80" Type="http://schemas.openxmlformats.org/officeDocument/2006/relationships/slide" Target="slides/slide77.xml"/><Relationship Id="rId85" Type="http://schemas.openxmlformats.org/officeDocument/2006/relationships/slide" Target="slides/slide82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83" Type="http://schemas.openxmlformats.org/officeDocument/2006/relationships/slide" Target="slides/slide80.xml"/><Relationship Id="rId88" Type="http://schemas.openxmlformats.org/officeDocument/2006/relationships/slide" Target="slides/slide85.xml"/><Relationship Id="rId91" Type="http://schemas.openxmlformats.org/officeDocument/2006/relationships/slide" Target="slides/slide88.xml"/><Relationship Id="rId96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81" Type="http://schemas.openxmlformats.org/officeDocument/2006/relationships/slide" Target="slides/slide78.xml"/><Relationship Id="rId86" Type="http://schemas.openxmlformats.org/officeDocument/2006/relationships/slide" Target="slides/slide83.xml"/><Relationship Id="rId94" Type="http://schemas.openxmlformats.org/officeDocument/2006/relationships/slide" Target="slides/slide91.xml"/><Relationship Id="rId9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97" Type="http://schemas.openxmlformats.org/officeDocument/2006/relationships/presProps" Target="presProps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92" Type="http://schemas.openxmlformats.org/officeDocument/2006/relationships/slide" Target="slides/slide8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Relationship Id="rId87" Type="http://schemas.openxmlformats.org/officeDocument/2006/relationships/slide" Target="slides/slide84.xml"/><Relationship Id="rId61" Type="http://schemas.openxmlformats.org/officeDocument/2006/relationships/slide" Target="slides/slide58.xml"/><Relationship Id="rId82" Type="http://schemas.openxmlformats.org/officeDocument/2006/relationships/slide" Target="slides/slide79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56" Type="http://schemas.openxmlformats.org/officeDocument/2006/relationships/slide" Target="slides/slide53.xml"/><Relationship Id="rId77" Type="http://schemas.openxmlformats.org/officeDocument/2006/relationships/slide" Target="slides/slide74.xml"/><Relationship Id="rId100" Type="http://schemas.openxmlformats.org/officeDocument/2006/relationships/tableStyles" Target="tableStyle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93" Type="http://schemas.openxmlformats.org/officeDocument/2006/relationships/slide" Target="slides/slide90.xml"/><Relationship Id="rId98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55EA4C-C730-45EE-962B-B75D339BE598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6EEA2C-B15A-41FB-8CEE-35D5B1FD11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113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7709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371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8113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427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641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045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567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C9E20D47-8950-4345-B591-B1A084BE3FF9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688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888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022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9825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958A7-C842-1306-85A9-D5869D2CB9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22B739-A0DB-E465-2DD1-FC2F63B4EC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3F2E29-6675-11F3-C587-415AFD73C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FACCD3-EA0F-88A1-555B-2F0923ACA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F007F3-352C-26B3-AD9C-C25997954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0734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E9E25-7B0F-2E27-972A-9374391FD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CCA61-FDE1-B86C-D6C0-A0456B480B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36CA65-7308-7A92-3FF9-DDFF59D6D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281FC9-3AF9-CA12-49A8-CFA6E5C9D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41F95D-66D7-2C1B-BBB9-1DED127A7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7624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8F506-103F-59F0-CDD9-21708A4A5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BF001D-2655-BE0C-E5C9-3973A882A3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72C312-9871-73D3-9A4D-5534C80C9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4969B6-DE58-DA29-543F-18DBA9340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75D59F-0828-6725-C785-3D5FF4633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497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A98AC-F134-177F-7BC9-A910FA4D9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3A78B-97AD-F464-FFA2-43043EBD3F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EAC0EC-80AC-6E84-16D5-C507DDD96B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FA64FE-FC87-801A-C851-B7494F72E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1DA7AB-4963-0D09-B25C-CE168A897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F0F405-FCBD-27FD-E780-A5048A0B5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8311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12501-0AEB-508A-9C5F-3F9FABB6E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207663-2E9D-C656-68BE-8258253326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6E273C-A8E5-4904-E2D2-247B6BDCC0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EF18BE-00B8-17BD-F80C-0DDD4ECA40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7AEE12-2E2D-5EAF-0129-C468676307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897EDD-65BE-7504-B6B1-6B9ACE957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07187A-AD97-2A9E-BCEB-63E04EC23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B81EC2-7FC4-9857-2136-C853C98FB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8765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CF7F4-0D6B-2633-5F89-DD2FE64DA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7C744D-B9A8-5435-C58A-B6A18FB1B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906396-D959-94C3-719C-86CEBF800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89F0D3-245F-D099-E381-A1AA0BCA4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1869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710C35-01ED-5FC8-D93C-526A6A294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55287F-181B-3DEB-364C-3D1831229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6DB13C-EAD2-119E-1773-0D186FBC7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4321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74B01-A7A7-7B8C-7C09-A1D0763BC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7894D-BD14-70D7-1AB7-DE58ABE3A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5AD15A-1936-916D-B5EF-39CF30481F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ADAD62-B7B3-9F7E-EABD-C741DD7B1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8DF03A-7A9B-E2E1-EFD8-605FEC713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FCB9A7-35F5-86F4-8830-D014FF0A0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989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81D47-2CA0-76D0-DD0A-8D8A171CD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0065D6-2C3C-6AD7-97A9-25CE4ABC34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2F3ED7-F437-5B72-02E1-9067F58EA0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1780A9-CD14-BF71-4F5F-56C4BEDC2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0EA1D2-D8E9-67BD-AE53-9900E0762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FDE7DE-58A9-7DA7-46CC-EBC1C1C43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2829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D1F14-6648-DAA7-4002-266662C14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4796A8-7321-F8D3-DFC0-968290E354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FC285-911B-C6C7-7C45-FA81BE2C9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5DA7CD-BB57-D71C-48A7-0E33159FA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47D385-DDD9-4E67-584E-75D39FF8C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04084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BF8148-8509-EBFE-94CD-F7ED78939C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97077F-41CC-4782-6A35-4F6E000EF8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031E7C-C273-CF1C-938A-85130FFFF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9B659D-4F98-527C-7288-07B3271B3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558127-1D49-DC05-A50E-C8FCF0B68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26261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1E628-2295-60C3-554B-F69E258C79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B4C919-552B-4185-4905-0A757EFBE0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222A18-DD51-A715-AA07-3AC35E76A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B425B3-236F-BAF5-5652-A317BE783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73E9B-AB16-03FF-E3B5-F08ECD1E0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2988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1B833-7404-8AFF-519B-2D646F425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41CBC-D474-A9EE-0C80-1B6532AA06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F98A8C-3126-4E7D-80EB-B4C08400A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7FED16-F5A6-D00B-4AAA-31A9CBA52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908A1E-7E44-AB63-5129-3474C48CB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57038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F419C-0981-F5B1-5D2A-CCD7E09E1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FA8433-A6B3-E369-9D17-B42E71A7EA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80DC4B-B5A8-BD42-8713-E2541CE77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344096-DA24-D161-7995-C7CB1FDB7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39CEA4-D9A3-0922-F2E3-4C4845DB2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68838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B24F0-356E-C304-3638-8E1DD1877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55A28-EF5F-C786-3BD1-616C8D19BA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6ED6FF-F127-182E-A5C1-53E5DD3C27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57732D-AA97-B0D8-852D-EC24F4B00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0CC093-26A6-6390-5220-AB19AF9C6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EBC467-3675-ABA2-5ACF-ED3DCC839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7998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94EF6-8F6A-C449-56C0-4704F8B10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B501C1-B182-ED07-B6D9-E2DB79F27B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2FF3AA-B86A-C2EE-225A-4A260F6A0E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3E46D-8B89-72AA-1F93-101539E955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48897D-14A4-AACB-FFF9-89CE19725D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07E40B-0173-615D-22C5-9BFE79C41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46794A-32C5-1657-D308-2B9BA5296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4DB5EF-CD48-1595-B798-8D879C9D1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79426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77128-C371-3E31-E353-5B5141434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599A92-FC3E-64AE-6505-D4313DBD7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4148D0-5A47-80EC-ADD6-A6FDEEDEF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B04F37-CEDB-64B1-3DF9-C151155D2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36026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7C06E0-C082-CFF8-ED9B-E69DDDBCE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2ACCD9-5745-4E08-CD69-1F430F297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4DCCD6-8219-C9B0-A419-2E19287A6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21492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23BBC-3704-CCB1-D5B7-063A7C66A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A6B5F-BCC7-5058-2B0D-D9832D0C0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0392F0-032F-5468-7FC7-72990F7AFE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C55751-5BE4-5A53-79A2-86477DFE8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F8FE1F-92F1-10FF-B9A1-FDDA5D060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20165C-9B44-BACC-B846-E2F790602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20595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E7C10-E587-3CD1-5567-42066EEE0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81E7BC-D7AB-7D51-9D31-0369C0F7DD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F5EEC0-64E0-1A15-E9D3-8E22F4EA23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DE0995-61F9-ADED-7651-66556999A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418B3E-3978-D3B5-4EFC-96C7C5912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327C20-A6BA-C1DB-B6FA-48E1007F8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51993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6AAF8-F153-CE9F-ABB2-ED45AC83A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1D1413-8D02-E7BA-E196-655B8E4DED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CED38-9C59-9133-CCA1-BFBBD0A1A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495077-8A4A-D037-00F9-71718FBBA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EF9982-5564-9E26-E5FA-E0DF3C255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73402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A80C18-BE41-83C4-23B9-4481A22F78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79A975-3065-22EB-02F1-BB19E8B421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2EC24B-29F3-3219-A99B-B56FCB765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B40EA8-9C61-E097-C0CC-165A3971F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4BA7B8-1C09-A464-B610-3F8B9F203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907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9E20D47-8950-4345-B591-B1A084BE3FF9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5504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B43E6B-BE7C-F7B5-8F96-E098E8F8A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17BC90-F11E-7B2A-E678-5FC15B91C8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A7AFC-7092-1DF9-83F5-76910805B2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9EC95-7019-459D-A010-A8B68B1545FD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F60B2-53C0-725C-1263-280DCC3EB3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D43FB-7697-1ADD-EDD4-DA4582F60A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618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331FE1-4F1F-DCD0-653B-10C113FD7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B2EE2B-89ED-CDED-20AD-C726F9A038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A71289-A8A4-49AD-D06D-8CEBDCCF99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7BDBE2-65EB-463D-B15D-57DD3A1ED31A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E5BAAE-1591-6815-7EE6-DF2504DA85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DB3D3A-5F7C-BE1C-6772-4A69681B8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259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9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2.png"/><Relationship Id="rId4" Type="http://schemas.openxmlformats.org/officeDocument/2006/relationships/image" Target="../media/image6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2.png"/><Relationship Id="rId4" Type="http://schemas.openxmlformats.org/officeDocument/2006/relationships/image" Target="../media/image64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2.png"/><Relationship Id="rId4" Type="http://schemas.openxmlformats.org/officeDocument/2006/relationships/image" Target="../media/image65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2.png"/><Relationship Id="rId4" Type="http://schemas.openxmlformats.org/officeDocument/2006/relationships/image" Target="../media/image66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9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2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5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8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9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0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1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2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3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4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5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9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2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3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5.png"/><Relationship Id="rId4" Type="http://schemas.openxmlformats.org/officeDocument/2006/relationships/image" Target="../media/image94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6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7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8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9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0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1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2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3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4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5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6.png"/><Relationship Id="rId4" Type="http://schemas.openxmlformats.org/officeDocument/2006/relationships/image" Target="../media/image105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7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8.png"/><Relationship Id="rId4" Type="http://schemas.openxmlformats.org/officeDocument/2006/relationships/image" Target="../media/image107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jp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EAC19497-F638-0811-E7ED-6E6FA4360F2F}"/>
              </a:ext>
            </a:extLst>
          </p:cNvPr>
          <p:cNvGrpSpPr/>
          <p:nvPr/>
        </p:nvGrpSpPr>
        <p:grpSpPr>
          <a:xfrm>
            <a:off x="4658788" y="5255795"/>
            <a:ext cx="4045464" cy="1029113"/>
            <a:chOff x="6824798" y="5793729"/>
            <a:chExt cx="3667695" cy="978289"/>
          </a:xfrm>
          <a:noFill/>
        </p:grpSpPr>
        <p:pic>
          <p:nvPicPr>
            <p:cNvPr id="15" name="Picture 14" descr="Graphical user interface, text&#10;&#10;Description automatically generated with medium confidence">
              <a:extLst>
                <a:ext uri="{FF2B5EF4-FFF2-40B4-BE49-F238E27FC236}">
                  <a16:creationId xmlns:a16="http://schemas.microsoft.com/office/drawing/2014/main" id="{C10EB561-9745-F8D5-A329-610E598C53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24798" y="6028998"/>
              <a:ext cx="2084032" cy="715548"/>
            </a:xfrm>
            <a:prstGeom prst="rect">
              <a:avLst/>
            </a:prstGeom>
            <a:grpFill/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6CBE5B9B-0BC4-F177-AC6B-7A636CCB54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008193" y="5793729"/>
              <a:ext cx="1484300" cy="978289"/>
            </a:xfrm>
            <a:prstGeom prst="rect">
              <a:avLst/>
            </a:prstGeom>
            <a:grpFill/>
          </p:spPr>
        </p:pic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C33647FC-E9A4-CF82-B3C7-3A659951E4E9}"/>
              </a:ext>
            </a:extLst>
          </p:cNvPr>
          <p:cNvSpPr/>
          <p:nvPr/>
        </p:nvSpPr>
        <p:spPr>
          <a:xfrm>
            <a:off x="631865" y="308359"/>
            <a:ext cx="5120312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Excel </a:t>
            </a:r>
          </a:p>
          <a:p>
            <a:pPr algn="ctr"/>
            <a:r>
              <a:rPr lang="en-US" sz="5400" b="1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Training </a:t>
            </a:r>
          </a:p>
          <a:p>
            <a:pPr algn="ctr"/>
            <a:r>
              <a:rPr lang="en-US" sz="5400" b="1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for Beginners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364458-297F-61DC-1CAB-BBA507E98155}"/>
              </a:ext>
            </a:extLst>
          </p:cNvPr>
          <p:cNvSpPr/>
          <p:nvPr/>
        </p:nvSpPr>
        <p:spPr>
          <a:xfrm>
            <a:off x="894616" y="4527669"/>
            <a:ext cx="3764172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800" b="0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SAID FAWZY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0610C3D-2903-8547-C5B8-1A6D154091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9824" y="573092"/>
            <a:ext cx="5334462" cy="2700762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73710E89-F473-B169-1AD7-FB86CEF9F8EE}"/>
              </a:ext>
            </a:extLst>
          </p:cNvPr>
          <p:cNvSpPr txBox="1">
            <a:spLocks/>
          </p:cNvSpPr>
          <p:nvPr/>
        </p:nvSpPr>
        <p:spPr>
          <a:xfrm>
            <a:off x="1100635" y="5524501"/>
            <a:ext cx="3093342" cy="918772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 Black" panose="020B0A04020102020204" pitchFamily="34" charset="0"/>
              </a:rPr>
              <a:t>Manager of Information Center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 Black" panose="020B0A04020102020204" pitchFamily="34" charset="0"/>
              </a:rPr>
              <a:t>Tendering Department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 Black" panose="020B0A04020102020204" pitchFamily="34" charset="0"/>
              </a:rPr>
              <a:t>Arab Contractors </a:t>
            </a:r>
          </a:p>
        </p:txBody>
      </p:sp>
      <p:pic>
        <p:nvPicPr>
          <p:cNvPr id="4" name="Picture 3" descr="Logo, icon&#10;&#10;Description automatically generated">
            <a:extLst>
              <a:ext uri="{FF2B5EF4-FFF2-40B4-BE49-F238E27FC236}">
                <a16:creationId xmlns:a16="http://schemas.microsoft.com/office/drawing/2014/main" id="{38C68A23-615E-2591-CC49-727408AD7CD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3533" y="6032703"/>
            <a:ext cx="457986" cy="38469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88269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D25BA74D-EF90-0239-6711-2B75A9015049}"/>
              </a:ext>
            </a:extLst>
          </p:cNvPr>
          <p:cNvGrpSpPr/>
          <p:nvPr/>
        </p:nvGrpSpPr>
        <p:grpSpPr>
          <a:xfrm>
            <a:off x="75969" y="185439"/>
            <a:ext cx="3410275" cy="892109"/>
            <a:chOff x="75969" y="185439"/>
            <a:chExt cx="3410275" cy="89210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0B9E7AE-DD3E-2778-4505-29CE11B55B95}"/>
                </a:ext>
              </a:extLst>
            </p:cNvPr>
            <p:cNvSpPr/>
            <p:nvPr/>
          </p:nvSpPr>
          <p:spPr>
            <a:xfrm>
              <a:off x="1838036" y="246551"/>
              <a:ext cx="164820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Excel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Training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for Beginners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E6699ADC-6A36-3C68-70BE-C69A1A410A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969" y="185439"/>
              <a:ext cx="1762067" cy="892109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909E0A5-81C4-0F08-070C-450985911AA8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AB22DA6-C1D9-CC24-D593-4E2B3FB3C2EB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720A25A-1A8C-0312-D649-F7FB275E65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2A3AF23-43B7-46D7-E096-7C5743A54DF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A99D5D1C-CB18-AA91-2F2E-273EBAD07469}"/>
              </a:ext>
            </a:extLst>
          </p:cNvPr>
          <p:cNvSpPr/>
          <p:nvPr/>
        </p:nvSpPr>
        <p:spPr>
          <a:xfrm>
            <a:off x="27709" y="2875002"/>
            <a:ext cx="12192000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8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MASTERING FORMULAS AND FUNCTIONS</a:t>
            </a:r>
            <a:endParaRPr lang="en-US" sz="4800" b="1" cap="none" spc="0" dirty="0">
              <a:ln w="0"/>
              <a:solidFill>
                <a:srgbClr val="0D5E3E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ontserrat Bold" panose="00000800000000000000" pitchFamily="2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3FFDDE-FB1B-012C-48CA-7D54DF023313}"/>
              </a:ext>
            </a:extLst>
          </p:cNvPr>
          <p:cNvSpPr/>
          <p:nvPr/>
        </p:nvSpPr>
        <p:spPr>
          <a:xfrm>
            <a:off x="10457" y="1512371"/>
            <a:ext cx="12192000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88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3</a:t>
            </a:r>
            <a:endParaRPr lang="en-US" sz="8800" b="1" cap="none" spc="0" dirty="0">
              <a:ln w="0"/>
              <a:solidFill>
                <a:srgbClr val="0D5E3E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ontserrat Bold" panose="00000800000000000000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6ED84B-4DD8-B161-A53E-1F071E9DFD0A}"/>
              </a:ext>
            </a:extLst>
          </p:cNvPr>
          <p:cNvSpPr/>
          <p:nvPr/>
        </p:nvSpPr>
        <p:spPr>
          <a:xfrm>
            <a:off x="9036704" y="185439"/>
            <a:ext cx="286649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SAID FAWZY</a:t>
            </a:r>
          </a:p>
        </p:txBody>
      </p:sp>
    </p:spTree>
    <p:extLst>
      <p:ext uri="{BB962C8B-B14F-4D97-AF65-F5344CB8AC3E}">
        <p14:creationId xmlns:p14="http://schemas.microsoft.com/office/powerpoint/2010/main" val="945232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4D31F-C2C9-6410-C474-4A48538A2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D5FF88-DAD0-AF74-C033-9EC8464D84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8431" y="0"/>
            <a:ext cx="5363570" cy="6858000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9DBC2017-19A4-3A61-CC33-2C2CF3691949}"/>
              </a:ext>
            </a:extLst>
          </p:cNvPr>
          <p:cNvSpPr/>
          <p:nvPr/>
        </p:nvSpPr>
        <p:spPr>
          <a:xfrm rot="5400000">
            <a:off x="8606" y="627131"/>
            <a:ext cx="914400" cy="914400"/>
          </a:xfrm>
          <a:prstGeom prst="ellipse">
            <a:avLst/>
          </a:prstGeom>
          <a:ln>
            <a:noFill/>
          </a:ln>
          <a:effectLst>
            <a:outerShdw blurRad="63500" dist="38100" dir="5400000" algn="t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Montserrat SemiBold" panose="00000700000000000000" pitchFamily="2" charset="0"/>
                <a:ea typeface="+mn-ea"/>
                <a:cs typeface="+mn-cs"/>
              </a:rPr>
              <a:t>90%</a:t>
            </a:r>
            <a:endParaRPr kumimoji="0" lang="en-NZ" sz="1800" b="0" i="0" u="none" strike="noStrike" kern="1200" cap="none" spc="0" normalizeH="0" baseline="0" noProof="0" dirty="0">
              <a:ln>
                <a:noFill/>
              </a:ln>
              <a:solidFill>
                <a:srgbClr val="156082"/>
              </a:solidFill>
              <a:effectLst/>
              <a:uLnTx/>
              <a:uFillTx/>
              <a:latin typeface="Montserrat SemiBold" panose="00000700000000000000" pitchFamily="2" charset="0"/>
              <a:ea typeface="+mn-ea"/>
              <a:cs typeface="+mn-cs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5B64084-F9E0-EFAC-3F5A-4959D56BE15B}"/>
              </a:ext>
            </a:extLst>
          </p:cNvPr>
          <p:cNvGrpSpPr/>
          <p:nvPr/>
        </p:nvGrpSpPr>
        <p:grpSpPr>
          <a:xfrm>
            <a:off x="-9208171" y="636556"/>
            <a:ext cx="10131175" cy="932688"/>
            <a:chOff x="-7180886" y="3087526"/>
            <a:chExt cx="8103890" cy="923824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4179767E-2BFC-44A6-A39B-AC9F3F50C6E7}"/>
                </a:ext>
              </a:extLst>
            </p:cNvPr>
            <p:cNvSpPr/>
            <p:nvPr/>
          </p:nvSpPr>
          <p:spPr>
            <a:xfrm rot="5400000">
              <a:off x="-3586141" y="-507219"/>
              <a:ext cx="914400" cy="810389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>
                    <a:alpha val="40000"/>
                  </a:schemeClr>
                </a:gs>
                <a:gs pos="100000">
                  <a:srgbClr val="156082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A90C34F3-5F1B-8FF5-5C64-3DB215C5B981}"/>
                </a:ext>
              </a:extLst>
            </p:cNvPr>
            <p:cNvSpPr/>
            <p:nvPr/>
          </p:nvSpPr>
          <p:spPr>
            <a:xfrm rot="5400000">
              <a:off x="-6977232" y="3188437"/>
              <a:ext cx="914400" cy="731425"/>
            </a:xfrm>
            <a:prstGeom prst="ellipse">
              <a:avLst/>
            </a:prstGeom>
            <a:ln>
              <a:noFill/>
            </a:ln>
            <a:effectLst>
              <a:outerShdw blurRad="63500" dist="38100" dir="5400000" algn="t" rotWithShape="0">
                <a:schemeClr val="tx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156082"/>
                  </a:solidFill>
                  <a:effectLst/>
                  <a:uLnTx/>
                  <a:uFillTx/>
                  <a:latin typeface="Montserrat SemiBold" panose="00000700000000000000" pitchFamily="2" charset="0"/>
                  <a:ea typeface="+mn-ea"/>
                  <a:cs typeface="+mn-cs"/>
                </a:rPr>
                <a:t>90%</a:t>
              </a:r>
              <a:endParaRPr kumimoji="0" lang="en-NZ" sz="18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Montserrat SemiBold" panose="00000700000000000000" pitchFamily="2" charset="0"/>
                <a:ea typeface="+mn-ea"/>
                <a:cs typeface="+mn-cs"/>
              </a:endParaRPr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E8ACAE1A-298E-6E35-5762-FB81E90E2E18}"/>
              </a:ext>
            </a:extLst>
          </p:cNvPr>
          <p:cNvSpPr/>
          <p:nvPr/>
        </p:nvSpPr>
        <p:spPr>
          <a:xfrm>
            <a:off x="1008264" y="718197"/>
            <a:ext cx="697178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lvl="0" defTabSz="914400"/>
            <a:r>
              <a:rPr lang="en-US" sz="36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1- Excel Formulas and Functions</a:t>
            </a:r>
            <a:endParaRPr kumimoji="0" lang="en-US" sz="3600" b="1" i="0" u="none" strike="noStrike" kern="1200" cap="none" spc="0" normalizeH="0" baseline="0" noProof="0" dirty="0">
              <a:ln w="0"/>
              <a:solidFill>
                <a:srgbClr val="FFFF0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 panose="02110004020202020204"/>
            </a:endParaRPr>
          </a:p>
        </p:txBody>
      </p:sp>
      <p:pic>
        <p:nvPicPr>
          <p:cNvPr id="28" name="Picture 27" descr="A yellow cylinder with three layers&#10;&#10;AI-generated content may be incorrect.">
            <a:extLst>
              <a:ext uri="{FF2B5EF4-FFF2-40B4-BE49-F238E27FC236}">
                <a16:creationId xmlns:a16="http://schemas.microsoft.com/office/drawing/2014/main" id="{76C5286A-EA77-DB98-E6D5-F97F7116797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0172" y="714768"/>
            <a:ext cx="646332" cy="646332"/>
          </a:xfrm>
          <a:prstGeom prst="rect">
            <a:avLst/>
          </a:prstGeom>
        </p:spPr>
      </p:pic>
      <p:sp>
        <p:nvSpPr>
          <p:cNvPr id="29" name="Oval 28">
            <a:extLst>
              <a:ext uri="{FF2B5EF4-FFF2-40B4-BE49-F238E27FC236}">
                <a16:creationId xmlns:a16="http://schemas.microsoft.com/office/drawing/2014/main" id="{14FD281D-3274-A4C3-2CCB-0E7F8DB1F6BD}"/>
              </a:ext>
            </a:extLst>
          </p:cNvPr>
          <p:cNvSpPr/>
          <p:nvPr/>
        </p:nvSpPr>
        <p:spPr>
          <a:xfrm rot="5400000">
            <a:off x="37436" y="1928712"/>
            <a:ext cx="914400" cy="914400"/>
          </a:xfrm>
          <a:prstGeom prst="ellipse">
            <a:avLst/>
          </a:prstGeom>
          <a:solidFill>
            <a:srgbClr val="E97132"/>
          </a:solidFill>
          <a:ln>
            <a:noFill/>
          </a:ln>
          <a:effectLst>
            <a:outerShdw blurRad="63500" dist="38100" dir="5400000" algn="t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Z" sz="1800" b="0" i="0" u="none" strike="noStrike" kern="1200" cap="none" spc="0" normalizeH="0" baseline="0" noProof="0" dirty="0">
              <a:ln>
                <a:noFill/>
              </a:ln>
              <a:solidFill>
                <a:srgbClr val="156082"/>
              </a:solidFill>
              <a:effectLst/>
              <a:uLnTx/>
              <a:uFillTx/>
              <a:latin typeface="Montserrat SemiBold" panose="00000700000000000000" pitchFamily="2" charset="0"/>
              <a:ea typeface="+mn-ea"/>
              <a:cs typeface="+mn-cs"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56B1B75-ADD6-244B-F6EA-C5E40C655D8E}"/>
              </a:ext>
            </a:extLst>
          </p:cNvPr>
          <p:cNvGrpSpPr/>
          <p:nvPr/>
        </p:nvGrpSpPr>
        <p:grpSpPr>
          <a:xfrm>
            <a:off x="-9179341" y="1925778"/>
            <a:ext cx="10131175" cy="945045"/>
            <a:chOff x="-7180886" y="3075286"/>
            <a:chExt cx="8103890" cy="936064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BB9ACD2E-80E8-F0CC-E81F-865A0102D455}"/>
                </a:ext>
              </a:extLst>
            </p:cNvPr>
            <p:cNvSpPr/>
            <p:nvPr/>
          </p:nvSpPr>
          <p:spPr>
            <a:xfrm rot="5400000">
              <a:off x="-3586141" y="-519459"/>
              <a:ext cx="914400" cy="810389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E97132"/>
                </a:gs>
                <a:gs pos="100000">
                  <a:srgbClr val="F4B595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9032D44E-ACB4-AA1A-B0BB-67AA12B0BD19}"/>
                </a:ext>
              </a:extLst>
            </p:cNvPr>
            <p:cNvSpPr/>
            <p:nvPr/>
          </p:nvSpPr>
          <p:spPr>
            <a:xfrm rot="5400000">
              <a:off x="-6977232" y="3188437"/>
              <a:ext cx="914400" cy="731425"/>
            </a:xfrm>
            <a:prstGeom prst="ellipse">
              <a:avLst/>
            </a:prstGeom>
            <a:solidFill>
              <a:srgbClr val="E97132"/>
            </a:solidFill>
            <a:ln>
              <a:noFill/>
            </a:ln>
            <a:effectLst>
              <a:outerShdw blurRad="63500" dist="38100" dir="5400000" algn="t" rotWithShape="0">
                <a:schemeClr val="tx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18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Montserrat SemiBold" panose="00000700000000000000" pitchFamily="2" charset="0"/>
                <a:ea typeface="+mn-ea"/>
                <a:cs typeface="+mn-cs"/>
              </a:endParaRPr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844AB937-4DDE-BB2B-9C00-A9F7BBABF70C}"/>
              </a:ext>
            </a:extLst>
          </p:cNvPr>
          <p:cNvSpPr/>
          <p:nvPr/>
        </p:nvSpPr>
        <p:spPr>
          <a:xfrm>
            <a:off x="1037094" y="2019778"/>
            <a:ext cx="3585597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lvl="0" defTabSz="914400"/>
            <a:r>
              <a:rPr lang="en-US" sz="3600" b="1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2- Sum Function</a:t>
            </a:r>
            <a:endParaRPr kumimoji="0" lang="en-US" sz="3600" b="1" i="0" u="none" strike="noStrike" kern="1200" cap="none" spc="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 panose="02110004020202020204"/>
            </a:endParaRPr>
          </a:p>
        </p:txBody>
      </p:sp>
      <p:pic>
        <p:nvPicPr>
          <p:cNvPr id="36" name="Picture 35" descr="A close-up of a container&#10;&#10;AI-generated content may be incorrect.">
            <a:extLst>
              <a:ext uri="{FF2B5EF4-FFF2-40B4-BE49-F238E27FC236}">
                <a16:creationId xmlns:a16="http://schemas.microsoft.com/office/drawing/2014/main" id="{AE7F36A8-C824-0788-E427-CD0A8C01117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0172" y="1947649"/>
            <a:ext cx="774618" cy="774618"/>
          </a:xfrm>
          <a:prstGeom prst="rect">
            <a:avLst/>
          </a:prstGeom>
        </p:spPr>
      </p:pic>
      <p:sp>
        <p:nvSpPr>
          <p:cNvPr id="37" name="Oval 36">
            <a:extLst>
              <a:ext uri="{FF2B5EF4-FFF2-40B4-BE49-F238E27FC236}">
                <a16:creationId xmlns:a16="http://schemas.microsoft.com/office/drawing/2014/main" id="{D440FAF9-F7FA-7BE4-9BC6-52CF36F1CF3B}"/>
              </a:ext>
            </a:extLst>
          </p:cNvPr>
          <p:cNvSpPr/>
          <p:nvPr/>
        </p:nvSpPr>
        <p:spPr>
          <a:xfrm rot="5400000">
            <a:off x="125764" y="3241986"/>
            <a:ext cx="914400" cy="914400"/>
          </a:xfrm>
          <a:prstGeom prst="ellipse">
            <a:avLst/>
          </a:prstGeom>
          <a:solidFill>
            <a:srgbClr val="196B24"/>
          </a:solidFill>
          <a:ln>
            <a:noFill/>
          </a:ln>
          <a:effectLst>
            <a:outerShdw blurRad="63500" dist="38100" dir="5400000" algn="t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Z" sz="1800" b="0" i="0" u="none" strike="noStrike" kern="1200" cap="none" spc="0" normalizeH="0" baseline="0" noProof="0" dirty="0">
              <a:ln>
                <a:noFill/>
              </a:ln>
              <a:solidFill>
                <a:srgbClr val="156082"/>
              </a:solidFill>
              <a:effectLst/>
              <a:uLnTx/>
              <a:uFillTx/>
              <a:latin typeface="Montserrat SemiBold" panose="00000700000000000000" pitchFamily="2" charset="0"/>
              <a:ea typeface="+mn-ea"/>
              <a:cs typeface="+mn-cs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E21FB87-3235-BEAB-EB0D-BA5A310E869F}"/>
              </a:ext>
            </a:extLst>
          </p:cNvPr>
          <p:cNvGrpSpPr/>
          <p:nvPr/>
        </p:nvGrpSpPr>
        <p:grpSpPr>
          <a:xfrm>
            <a:off x="-9091013" y="3239052"/>
            <a:ext cx="10131175" cy="945045"/>
            <a:chOff x="-7180886" y="3075286"/>
            <a:chExt cx="8103890" cy="936064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15C0820E-EBD4-08BA-4999-EAF69375CF14}"/>
                </a:ext>
              </a:extLst>
            </p:cNvPr>
            <p:cNvSpPr/>
            <p:nvPr/>
          </p:nvSpPr>
          <p:spPr>
            <a:xfrm rot="5400000">
              <a:off x="-3586141" y="-519459"/>
              <a:ext cx="914400" cy="810389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96B24"/>
                </a:gs>
                <a:gs pos="100000">
                  <a:srgbClr val="88B18D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5B48164A-24CF-F37E-6551-83299BF5EE5E}"/>
                </a:ext>
              </a:extLst>
            </p:cNvPr>
            <p:cNvSpPr/>
            <p:nvPr/>
          </p:nvSpPr>
          <p:spPr>
            <a:xfrm rot="5400000">
              <a:off x="-6977232" y="3188437"/>
              <a:ext cx="914400" cy="731425"/>
            </a:xfrm>
            <a:prstGeom prst="ellipse">
              <a:avLst/>
            </a:prstGeom>
            <a:solidFill>
              <a:srgbClr val="196B24"/>
            </a:solidFill>
            <a:ln>
              <a:noFill/>
            </a:ln>
            <a:effectLst>
              <a:outerShdw blurRad="63500" dist="38100" dir="5400000" algn="t" rotWithShape="0">
                <a:schemeClr val="tx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18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Montserrat SemiBold" panose="00000700000000000000" pitchFamily="2" charset="0"/>
                <a:ea typeface="+mn-ea"/>
                <a:cs typeface="+mn-cs"/>
              </a:endParaRPr>
            </a:p>
          </p:txBody>
        </p: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235365C3-E28E-EB73-3F48-E8C72408B6A1}"/>
              </a:ext>
            </a:extLst>
          </p:cNvPr>
          <p:cNvSpPr/>
          <p:nvPr/>
        </p:nvSpPr>
        <p:spPr>
          <a:xfrm>
            <a:off x="1125422" y="3333052"/>
            <a:ext cx="7373493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lvl="0" defTabSz="914400"/>
            <a:r>
              <a:rPr lang="en-US" sz="3600" b="1" dirty="0">
                <a:ln w="0"/>
                <a:solidFill>
                  <a:srgbClr val="E97132">
                    <a:lumMod val="40000"/>
                    <a:lumOff val="60000"/>
                  </a:srgbClr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3- COUNT and COUNTA Functions</a:t>
            </a:r>
            <a:endParaRPr kumimoji="0" lang="en-US" sz="3600" b="1" i="0" u="none" strike="noStrike" kern="1200" cap="none" spc="0" normalizeH="0" baseline="0" noProof="0" dirty="0">
              <a:ln w="0"/>
              <a:solidFill>
                <a:srgbClr val="E97132">
                  <a:lumMod val="40000"/>
                  <a:lumOff val="60000"/>
                </a:srgbClr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 panose="02110004020202020204"/>
            </a:endParaRPr>
          </a:p>
        </p:txBody>
      </p:sp>
      <p:pic>
        <p:nvPicPr>
          <p:cNvPr id="48" name="Picture 47" descr="A close-up of a folder&#10;&#10;AI-generated content may be incorrect.">
            <a:extLst>
              <a:ext uri="{FF2B5EF4-FFF2-40B4-BE49-F238E27FC236}">
                <a16:creationId xmlns:a16="http://schemas.microsoft.com/office/drawing/2014/main" id="{2932A1E0-B600-E527-D7F4-E7A3F24D68E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2193" y="3260923"/>
            <a:ext cx="774618" cy="774618"/>
          </a:xfrm>
          <a:prstGeom prst="rect">
            <a:avLst/>
          </a:prstGeom>
        </p:spPr>
      </p:pic>
      <p:sp>
        <p:nvSpPr>
          <p:cNvPr id="51" name="Oval 50">
            <a:extLst>
              <a:ext uri="{FF2B5EF4-FFF2-40B4-BE49-F238E27FC236}">
                <a16:creationId xmlns:a16="http://schemas.microsoft.com/office/drawing/2014/main" id="{7BB7B1A1-8CA3-0B55-EC0A-F8F033F80C3E}"/>
              </a:ext>
            </a:extLst>
          </p:cNvPr>
          <p:cNvSpPr/>
          <p:nvPr/>
        </p:nvSpPr>
        <p:spPr>
          <a:xfrm rot="5400000">
            <a:off x="149290" y="4572460"/>
            <a:ext cx="914400" cy="914400"/>
          </a:xfrm>
          <a:prstGeom prst="ellipse">
            <a:avLst/>
          </a:prstGeom>
          <a:solidFill>
            <a:srgbClr val="0F9ED5"/>
          </a:solidFill>
          <a:ln>
            <a:noFill/>
          </a:ln>
          <a:effectLst>
            <a:outerShdw blurRad="63500" dist="38100" dir="5400000" algn="t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Z" sz="1800" b="0" i="0" u="none" strike="noStrike" kern="1200" cap="none" spc="0" normalizeH="0" baseline="0" noProof="0" dirty="0">
              <a:ln>
                <a:noFill/>
              </a:ln>
              <a:solidFill>
                <a:srgbClr val="156082"/>
              </a:solidFill>
              <a:effectLst/>
              <a:uLnTx/>
              <a:uFillTx/>
              <a:latin typeface="Montserrat SemiBold" panose="00000700000000000000" pitchFamily="2" charset="0"/>
              <a:ea typeface="+mn-ea"/>
              <a:cs typeface="+mn-cs"/>
            </a:endParaRP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8D41E738-632A-1F3F-CB2F-F95D10955657}"/>
              </a:ext>
            </a:extLst>
          </p:cNvPr>
          <p:cNvGrpSpPr/>
          <p:nvPr/>
        </p:nvGrpSpPr>
        <p:grpSpPr>
          <a:xfrm>
            <a:off x="-9067487" y="4569526"/>
            <a:ext cx="10131175" cy="945045"/>
            <a:chOff x="-7180886" y="3075286"/>
            <a:chExt cx="8103890" cy="936064"/>
          </a:xfrm>
          <a:gradFill>
            <a:gsLst>
              <a:gs pos="0">
                <a:srgbClr val="0F9ED5"/>
              </a:gs>
              <a:gs pos="100000">
                <a:srgbClr val="7EC7E3"/>
              </a:gs>
            </a:gsLst>
            <a:lin ang="5400000" scaled="1"/>
          </a:gradFill>
        </p:grpSpPr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B8BE93D4-D322-3371-DDC9-0E48332CB15C}"/>
                </a:ext>
              </a:extLst>
            </p:cNvPr>
            <p:cNvSpPr/>
            <p:nvPr/>
          </p:nvSpPr>
          <p:spPr>
            <a:xfrm rot="5400000">
              <a:off x="-3586141" y="-519459"/>
              <a:ext cx="914400" cy="810389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659C1350-C9B9-3DB6-8E5B-8B35F85AD745}"/>
                </a:ext>
              </a:extLst>
            </p:cNvPr>
            <p:cNvSpPr/>
            <p:nvPr/>
          </p:nvSpPr>
          <p:spPr>
            <a:xfrm rot="5400000">
              <a:off x="-6977232" y="3188437"/>
              <a:ext cx="914400" cy="731425"/>
            </a:xfrm>
            <a:prstGeom prst="ellipse">
              <a:avLst/>
            </a:prstGeom>
            <a:solidFill>
              <a:srgbClr val="0F9ED5"/>
            </a:solidFill>
            <a:ln>
              <a:noFill/>
            </a:ln>
            <a:effectLst>
              <a:outerShdw blurRad="63500" dist="38100" dir="5400000" algn="t" rotWithShape="0">
                <a:schemeClr val="tx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18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Montserrat SemiBold" panose="00000700000000000000" pitchFamily="2" charset="0"/>
                <a:ea typeface="+mn-ea"/>
                <a:cs typeface="+mn-cs"/>
              </a:endParaRPr>
            </a:p>
          </p:txBody>
        </p:sp>
      </p:grpSp>
      <p:sp>
        <p:nvSpPr>
          <p:cNvPr id="55" name="Rectangle 54">
            <a:extLst>
              <a:ext uri="{FF2B5EF4-FFF2-40B4-BE49-F238E27FC236}">
                <a16:creationId xmlns:a16="http://schemas.microsoft.com/office/drawing/2014/main" id="{CF1D280B-4507-9E23-FFCE-F5697E0DE576}"/>
              </a:ext>
            </a:extLst>
          </p:cNvPr>
          <p:cNvSpPr/>
          <p:nvPr/>
        </p:nvSpPr>
        <p:spPr>
          <a:xfrm>
            <a:off x="1148948" y="4663526"/>
            <a:ext cx="7624651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lvl="0" defTabSz="914400"/>
            <a:r>
              <a:rPr lang="en-US" sz="3600" b="1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4- AVEARAGE Function</a:t>
            </a:r>
            <a:endParaRPr kumimoji="0" lang="en-US" sz="3600" b="1" i="0" u="none" strike="noStrike" kern="1200" cap="none" spc="0" normalizeH="0" baseline="0" noProof="0" dirty="0">
              <a:ln w="0"/>
              <a:solidFill>
                <a:srgbClr val="7030A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 panose="02110004020202020204"/>
            </a:endParaRP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ED538238-60D1-8D6D-6251-FDB4AB4DF99E}"/>
              </a:ext>
            </a:extLst>
          </p:cNvPr>
          <p:cNvSpPr/>
          <p:nvPr/>
        </p:nvSpPr>
        <p:spPr>
          <a:xfrm rot="5400000">
            <a:off x="234548" y="5764245"/>
            <a:ext cx="914400" cy="914400"/>
          </a:xfrm>
          <a:prstGeom prst="ellipse">
            <a:avLst/>
          </a:prstGeom>
          <a:solidFill>
            <a:srgbClr val="A02B93"/>
          </a:solidFill>
          <a:ln>
            <a:noFill/>
          </a:ln>
          <a:effectLst>
            <a:outerShdw blurRad="63500" dist="38100" dir="5400000" algn="t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Z" sz="1800" b="0" i="0" u="none" strike="noStrike" kern="1200" cap="none" spc="0" normalizeH="0" baseline="0" noProof="0" dirty="0">
              <a:ln>
                <a:noFill/>
              </a:ln>
              <a:solidFill>
                <a:srgbClr val="156082"/>
              </a:solidFill>
              <a:effectLst/>
              <a:uLnTx/>
              <a:uFillTx/>
              <a:latin typeface="Montserrat SemiBold" panose="00000700000000000000" pitchFamily="2" charset="0"/>
              <a:ea typeface="+mn-ea"/>
              <a:cs typeface="+mn-cs"/>
            </a:endParaRP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796C77A0-18FD-2F44-B654-8BC40054A6DD}"/>
              </a:ext>
            </a:extLst>
          </p:cNvPr>
          <p:cNvGrpSpPr/>
          <p:nvPr/>
        </p:nvGrpSpPr>
        <p:grpSpPr>
          <a:xfrm>
            <a:off x="-8982229" y="5761311"/>
            <a:ext cx="10131175" cy="945045"/>
            <a:chOff x="-7180886" y="3075286"/>
            <a:chExt cx="8103890" cy="936064"/>
          </a:xfrm>
        </p:grpSpPr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8F58E76B-19E9-2E4B-323E-47B52BDB9114}"/>
                </a:ext>
              </a:extLst>
            </p:cNvPr>
            <p:cNvSpPr/>
            <p:nvPr/>
          </p:nvSpPr>
          <p:spPr>
            <a:xfrm rot="5400000">
              <a:off x="-3586141" y="-519459"/>
              <a:ext cx="914400" cy="810389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02B93"/>
                </a:gs>
                <a:gs pos="100000">
                  <a:srgbClr val="CE92C8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423B4D97-BD7E-E259-8091-8ED9422D5574}"/>
                </a:ext>
              </a:extLst>
            </p:cNvPr>
            <p:cNvSpPr/>
            <p:nvPr/>
          </p:nvSpPr>
          <p:spPr>
            <a:xfrm rot="5400000">
              <a:off x="-6977232" y="3188437"/>
              <a:ext cx="914400" cy="731425"/>
            </a:xfrm>
            <a:prstGeom prst="ellipse">
              <a:avLst/>
            </a:prstGeom>
            <a:solidFill>
              <a:srgbClr val="A02B93"/>
            </a:solidFill>
            <a:ln>
              <a:noFill/>
            </a:ln>
            <a:effectLst>
              <a:outerShdw blurRad="63500" dist="38100" dir="5400000" algn="t" rotWithShape="0">
                <a:schemeClr val="tx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18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Montserrat SemiBold" panose="00000700000000000000" pitchFamily="2" charset="0"/>
                <a:ea typeface="+mn-ea"/>
                <a:cs typeface="+mn-cs"/>
              </a:endParaRPr>
            </a:p>
          </p:txBody>
        </p:sp>
      </p:grpSp>
      <p:sp>
        <p:nvSpPr>
          <p:cNvPr id="61" name="Rectangle 60">
            <a:extLst>
              <a:ext uri="{FF2B5EF4-FFF2-40B4-BE49-F238E27FC236}">
                <a16:creationId xmlns:a16="http://schemas.microsoft.com/office/drawing/2014/main" id="{C94D7CDB-544A-6CB4-C5C7-A41C70B72730}"/>
              </a:ext>
            </a:extLst>
          </p:cNvPr>
          <p:cNvSpPr/>
          <p:nvPr/>
        </p:nvSpPr>
        <p:spPr>
          <a:xfrm>
            <a:off x="1234206" y="5855311"/>
            <a:ext cx="564770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lvl="0" defTabSz="914400"/>
            <a:r>
              <a:rPr lang="en-US" sz="3600" b="1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5- MIN and MAX Functions</a:t>
            </a:r>
            <a:endParaRPr kumimoji="0" lang="en-US" sz="3600" b="1" i="0" u="none" strike="noStrike" kern="1200" cap="none" spc="0" normalizeH="0" baseline="0" noProof="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 panose="02110004020202020204"/>
            </a:endParaRPr>
          </a:p>
        </p:txBody>
      </p:sp>
      <p:pic>
        <p:nvPicPr>
          <p:cNvPr id="50" name="Picture 49" descr="A truck with a container on it&#10;&#10;AI-generated content may be incorrect.">
            <a:extLst>
              <a:ext uri="{FF2B5EF4-FFF2-40B4-BE49-F238E27FC236}">
                <a16:creationId xmlns:a16="http://schemas.microsoft.com/office/drawing/2014/main" id="{88E8A182-EC36-0F28-0F47-CA670B7EE9F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0461" y="4482465"/>
            <a:ext cx="914400" cy="914400"/>
          </a:xfrm>
          <a:prstGeom prst="rect">
            <a:avLst/>
          </a:prstGeom>
        </p:spPr>
      </p:pic>
      <p:pic>
        <p:nvPicPr>
          <p:cNvPr id="44" name="Picture 43" descr="A magnifying glass on a spool of paper&#10;&#10;AI-generated content may be incorrect.">
            <a:extLst>
              <a:ext uri="{FF2B5EF4-FFF2-40B4-BE49-F238E27FC236}">
                <a16:creationId xmlns:a16="http://schemas.microsoft.com/office/drawing/2014/main" id="{3D040D81-D5E2-98D9-07A6-4C6132868C5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3769" y="5729451"/>
            <a:ext cx="772191" cy="772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425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435 0.00069 L 0.72786 0.00069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60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435 0.00069 L 0.72786 0.00069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60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435 0.0007 L 0.72787 0.0007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60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434 0.00069 L 0.72787 0.00069 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60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435 0.00069 L 0.72786 0.00069 " pathEditMode="relative" rAng="0" ptsTypes="AA">
                                      <p:cBhvr>
                                        <p:cTn id="50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60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33" grpId="0"/>
      <p:bldP spid="41" grpId="0"/>
      <p:bldP spid="55" grpId="0"/>
      <p:bldP spid="6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B71AC-5941-DBFD-1786-F1288C7A6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1852BD-0B33-D1B2-3E26-55E00A104F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8431" y="0"/>
            <a:ext cx="5363570" cy="6858000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FCD09BA3-DB32-FC43-A05A-435507D8A189}"/>
              </a:ext>
            </a:extLst>
          </p:cNvPr>
          <p:cNvSpPr/>
          <p:nvPr/>
        </p:nvSpPr>
        <p:spPr>
          <a:xfrm rot="5400000">
            <a:off x="8606" y="627131"/>
            <a:ext cx="914400" cy="914400"/>
          </a:xfrm>
          <a:prstGeom prst="ellipse">
            <a:avLst/>
          </a:prstGeom>
          <a:ln>
            <a:noFill/>
          </a:ln>
          <a:effectLst>
            <a:outerShdw blurRad="63500" dist="38100" dir="5400000" algn="t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Montserrat SemiBold" panose="00000700000000000000" pitchFamily="2" charset="0"/>
                <a:ea typeface="+mn-ea"/>
                <a:cs typeface="+mn-cs"/>
              </a:rPr>
              <a:t>90%</a:t>
            </a:r>
            <a:endParaRPr kumimoji="0" lang="en-NZ" sz="1800" b="0" i="0" u="none" strike="noStrike" kern="1200" cap="none" spc="0" normalizeH="0" baseline="0" noProof="0" dirty="0">
              <a:ln>
                <a:noFill/>
              </a:ln>
              <a:solidFill>
                <a:srgbClr val="156082"/>
              </a:solidFill>
              <a:effectLst/>
              <a:uLnTx/>
              <a:uFillTx/>
              <a:latin typeface="Montserrat SemiBold" panose="00000700000000000000" pitchFamily="2" charset="0"/>
              <a:ea typeface="+mn-ea"/>
              <a:cs typeface="+mn-cs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6465497-9FC0-0048-1375-794A02D9CA17}"/>
              </a:ext>
            </a:extLst>
          </p:cNvPr>
          <p:cNvGrpSpPr/>
          <p:nvPr/>
        </p:nvGrpSpPr>
        <p:grpSpPr>
          <a:xfrm>
            <a:off x="-9208171" y="636556"/>
            <a:ext cx="10131175" cy="932688"/>
            <a:chOff x="-7180886" y="3087526"/>
            <a:chExt cx="8103890" cy="923824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614669FF-20F4-2824-9EDD-D9C053918E94}"/>
                </a:ext>
              </a:extLst>
            </p:cNvPr>
            <p:cNvSpPr/>
            <p:nvPr/>
          </p:nvSpPr>
          <p:spPr>
            <a:xfrm rot="5400000">
              <a:off x="-3586141" y="-507219"/>
              <a:ext cx="914400" cy="810389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>
                    <a:alpha val="40000"/>
                  </a:schemeClr>
                </a:gs>
                <a:gs pos="100000">
                  <a:srgbClr val="156082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4C92C156-1287-E57F-807B-0081D704AFFB}"/>
                </a:ext>
              </a:extLst>
            </p:cNvPr>
            <p:cNvSpPr/>
            <p:nvPr/>
          </p:nvSpPr>
          <p:spPr>
            <a:xfrm rot="5400000">
              <a:off x="-6977232" y="3188437"/>
              <a:ext cx="914400" cy="731425"/>
            </a:xfrm>
            <a:prstGeom prst="ellipse">
              <a:avLst/>
            </a:prstGeom>
            <a:ln>
              <a:noFill/>
            </a:ln>
            <a:effectLst>
              <a:outerShdw blurRad="63500" dist="38100" dir="5400000" algn="t" rotWithShape="0">
                <a:schemeClr val="tx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156082"/>
                  </a:solidFill>
                  <a:effectLst/>
                  <a:uLnTx/>
                  <a:uFillTx/>
                  <a:latin typeface="Montserrat SemiBold" panose="00000700000000000000" pitchFamily="2" charset="0"/>
                  <a:ea typeface="+mn-ea"/>
                  <a:cs typeface="+mn-cs"/>
                </a:rPr>
                <a:t>90%</a:t>
              </a:r>
              <a:endParaRPr kumimoji="0" lang="en-NZ" sz="18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Montserrat SemiBold" panose="00000700000000000000" pitchFamily="2" charset="0"/>
                <a:ea typeface="+mn-ea"/>
                <a:cs typeface="+mn-cs"/>
              </a:endParaRPr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45CB486F-FBD2-08E5-1F9D-991DB833AEC6}"/>
              </a:ext>
            </a:extLst>
          </p:cNvPr>
          <p:cNvSpPr/>
          <p:nvPr/>
        </p:nvSpPr>
        <p:spPr>
          <a:xfrm>
            <a:off x="1008264" y="718197"/>
            <a:ext cx="720280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lvl="0" defTabSz="914400"/>
            <a:r>
              <a:rPr lang="en-US" sz="36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6- Handling Errors in Calculations</a:t>
            </a:r>
            <a:endParaRPr kumimoji="0" lang="en-US" sz="3600" b="1" i="0" u="none" strike="noStrike" kern="1200" cap="none" spc="0" normalizeH="0" baseline="0" noProof="0" dirty="0">
              <a:ln w="0"/>
              <a:solidFill>
                <a:srgbClr val="FFFF0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 panose="02110004020202020204"/>
            </a:endParaRPr>
          </a:p>
        </p:txBody>
      </p:sp>
      <p:pic>
        <p:nvPicPr>
          <p:cNvPr id="28" name="Picture 27" descr="A yellow cylinder with three layers&#10;&#10;AI-generated content may be incorrect.">
            <a:extLst>
              <a:ext uri="{FF2B5EF4-FFF2-40B4-BE49-F238E27FC236}">
                <a16:creationId xmlns:a16="http://schemas.microsoft.com/office/drawing/2014/main" id="{B57AB1B8-A483-1B29-FD39-644BB9AAFA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0172" y="714768"/>
            <a:ext cx="646332" cy="646332"/>
          </a:xfrm>
          <a:prstGeom prst="rect">
            <a:avLst/>
          </a:prstGeom>
        </p:spPr>
      </p:pic>
      <p:sp>
        <p:nvSpPr>
          <p:cNvPr id="29" name="Oval 28">
            <a:extLst>
              <a:ext uri="{FF2B5EF4-FFF2-40B4-BE49-F238E27FC236}">
                <a16:creationId xmlns:a16="http://schemas.microsoft.com/office/drawing/2014/main" id="{4538E300-42CE-055C-E84C-CFEA4C10AF8B}"/>
              </a:ext>
            </a:extLst>
          </p:cNvPr>
          <p:cNvSpPr/>
          <p:nvPr/>
        </p:nvSpPr>
        <p:spPr>
          <a:xfrm rot="5400000">
            <a:off x="37436" y="1928712"/>
            <a:ext cx="914400" cy="914400"/>
          </a:xfrm>
          <a:prstGeom prst="ellipse">
            <a:avLst/>
          </a:prstGeom>
          <a:solidFill>
            <a:srgbClr val="E97132"/>
          </a:solidFill>
          <a:ln>
            <a:noFill/>
          </a:ln>
          <a:effectLst>
            <a:outerShdw blurRad="63500" dist="38100" dir="5400000" algn="t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Z" sz="1800" b="0" i="0" u="none" strike="noStrike" kern="1200" cap="none" spc="0" normalizeH="0" baseline="0" noProof="0" dirty="0">
              <a:ln>
                <a:noFill/>
              </a:ln>
              <a:solidFill>
                <a:srgbClr val="156082"/>
              </a:solidFill>
              <a:effectLst/>
              <a:uLnTx/>
              <a:uFillTx/>
              <a:latin typeface="Montserrat SemiBold" panose="00000700000000000000" pitchFamily="2" charset="0"/>
              <a:ea typeface="+mn-ea"/>
              <a:cs typeface="+mn-cs"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59CCA17-9935-87EC-5801-E4A654294768}"/>
              </a:ext>
            </a:extLst>
          </p:cNvPr>
          <p:cNvGrpSpPr/>
          <p:nvPr/>
        </p:nvGrpSpPr>
        <p:grpSpPr>
          <a:xfrm>
            <a:off x="-9179341" y="1925778"/>
            <a:ext cx="10131175" cy="945045"/>
            <a:chOff x="-7180886" y="3075286"/>
            <a:chExt cx="8103890" cy="936064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62198693-1299-F80E-D83B-27B41B88655D}"/>
                </a:ext>
              </a:extLst>
            </p:cNvPr>
            <p:cNvSpPr/>
            <p:nvPr/>
          </p:nvSpPr>
          <p:spPr>
            <a:xfrm rot="5400000">
              <a:off x="-3586141" y="-519459"/>
              <a:ext cx="914400" cy="810389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E97132"/>
                </a:gs>
                <a:gs pos="100000">
                  <a:srgbClr val="F4B595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85DE62D-1C7F-507B-EDCD-33B8E0E7E504}"/>
                </a:ext>
              </a:extLst>
            </p:cNvPr>
            <p:cNvSpPr/>
            <p:nvPr/>
          </p:nvSpPr>
          <p:spPr>
            <a:xfrm rot="5400000">
              <a:off x="-6977232" y="3188437"/>
              <a:ext cx="914400" cy="731425"/>
            </a:xfrm>
            <a:prstGeom prst="ellipse">
              <a:avLst/>
            </a:prstGeom>
            <a:solidFill>
              <a:srgbClr val="E97132"/>
            </a:solidFill>
            <a:ln>
              <a:noFill/>
            </a:ln>
            <a:effectLst>
              <a:outerShdw blurRad="63500" dist="38100" dir="5400000" algn="t" rotWithShape="0">
                <a:schemeClr val="tx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18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Montserrat SemiBold" panose="00000700000000000000" pitchFamily="2" charset="0"/>
                <a:ea typeface="+mn-ea"/>
                <a:cs typeface="+mn-cs"/>
              </a:endParaRPr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A6BF5DBC-B3EB-D56B-A97A-65559EB7EBD5}"/>
              </a:ext>
            </a:extLst>
          </p:cNvPr>
          <p:cNvSpPr/>
          <p:nvPr/>
        </p:nvSpPr>
        <p:spPr>
          <a:xfrm>
            <a:off x="1037094" y="2019778"/>
            <a:ext cx="7873437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lvl="0" defTabSz="914400"/>
            <a:r>
              <a:rPr lang="en-US" sz="3600" b="1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7- Absolute and Relative Referencing</a:t>
            </a:r>
            <a:endParaRPr kumimoji="0" lang="en-US" sz="3600" b="1" i="0" u="none" strike="noStrike" kern="1200" cap="none" spc="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 panose="02110004020202020204"/>
            </a:endParaRPr>
          </a:p>
        </p:txBody>
      </p:sp>
      <p:pic>
        <p:nvPicPr>
          <p:cNvPr id="36" name="Picture 35" descr="A close-up of a container&#10;&#10;AI-generated content may be incorrect.">
            <a:extLst>
              <a:ext uri="{FF2B5EF4-FFF2-40B4-BE49-F238E27FC236}">
                <a16:creationId xmlns:a16="http://schemas.microsoft.com/office/drawing/2014/main" id="{B213826E-B611-0C8F-B888-496EE2D5B72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0172" y="1947649"/>
            <a:ext cx="774618" cy="774618"/>
          </a:xfrm>
          <a:prstGeom prst="rect">
            <a:avLst/>
          </a:prstGeom>
        </p:spPr>
      </p:pic>
      <p:sp>
        <p:nvSpPr>
          <p:cNvPr id="37" name="Oval 36">
            <a:extLst>
              <a:ext uri="{FF2B5EF4-FFF2-40B4-BE49-F238E27FC236}">
                <a16:creationId xmlns:a16="http://schemas.microsoft.com/office/drawing/2014/main" id="{7910FB41-37F4-92F0-94F8-A9489ABBA8AD}"/>
              </a:ext>
            </a:extLst>
          </p:cNvPr>
          <p:cNvSpPr/>
          <p:nvPr/>
        </p:nvSpPr>
        <p:spPr>
          <a:xfrm rot="5400000">
            <a:off x="125764" y="3241986"/>
            <a:ext cx="914400" cy="914400"/>
          </a:xfrm>
          <a:prstGeom prst="ellipse">
            <a:avLst/>
          </a:prstGeom>
          <a:solidFill>
            <a:srgbClr val="196B24"/>
          </a:solidFill>
          <a:ln>
            <a:noFill/>
          </a:ln>
          <a:effectLst>
            <a:outerShdw blurRad="63500" dist="38100" dir="5400000" algn="t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Z" sz="1800" b="0" i="0" u="none" strike="noStrike" kern="1200" cap="none" spc="0" normalizeH="0" baseline="0" noProof="0" dirty="0">
              <a:ln>
                <a:noFill/>
              </a:ln>
              <a:solidFill>
                <a:srgbClr val="156082"/>
              </a:solidFill>
              <a:effectLst/>
              <a:uLnTx/>
              <a:uFillTx/>
              <a:latin typeface="Montserrat SemiBold" panose="00000700000000000000" pitchFamily="2" charset="0"/>
              <a:ea typeface="+mn-ea"/>
              <a:cs typeface="+mn-cs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9C32C9F-3B00-F5FD-FF2F-F449380458FA}"/>
              </a:ext>
            </a:extLst>
          </p:cNvPr>
          <p:cNvGrpSpPr/>
          <p:nvPr/>
        </p:nvGrpSpPr>
        <p:grpSpPr>
          <a:xfrm>
            <a:off x="-9091013" y="3239052"/>
            <a:ext cx="10131175" cy="945045"/>
            <a:chOff x="-7180886" y="3075286"/>
            <a:chExt cx="8103890" cy="936064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930D4A9C-1BF1-18CB-94D9-CAE3B73CB94C}"/>
                </a:ext>
              </a:extLst>
            </p:cNvPr>
            <p:cNvSpPr/>
            <p:nvPr/>
          </p:nvSpPr>
          <p:spPr>
            <a:xfrm rot="5400000">
              <a:off x="-3586141" y="-519459"/>
              <a:ext cx="914400" cy="810389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96B24"/>
                </a:gs>
                <a:gs pos="100000">
                  <a:srgbClr val="88B18D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85F1E4BB-9F94-7423-1ED4-73694943DC8D}"/>
                </a:ext>
              </a:extLst>
            </p:cNvPr>
            <p:cNvSpPr/>
            <p:nvPr/>
          </p:nvSpPr>
          <p:spPr>
            <a:xfrm rot="5400000">
              <a:off x="-6977232" y="3188437"/>
              <a:ext cx="914400" cy="731425"/>
            </a:xfrm>
            <a:prstGeom prst="ellipse">
              <a:avLst/>
            </a:prstGeom>
            <a:solidFill>
              <a:srgbClr val="196B24"/>
            </a:solidFill>
            <a:ln>
              <a:noFill/>
            </a:ln>
            <a:effectLst>
              <a:outerShdw blurRad="63500" dist="38100" dir="5400000" algn="t" rotWithShape="0">
                <a:schemeClr val="tx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18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Montserrat SemiBold" panose="00000700000000000000" pitchFamily="2" charset="0"/>
                <a:ea typeface="+mn-ea"/>
                <a:cs typeface="+mn-cs"/>
              </a:endParaRPr>
            </a:p>
          </p:txBody>
        </p: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65DE613E-5E53-7CC8-8051-71E44AE1BA34}"/>
              </a:ext>
            </a:extLst>
          </p:cNvPr>
          <p:cNvSpPr/>
          <p:nvPr/>
        </p:nvSpPr>
        <p:spPr>
          <a:xfrm>
            <a:off x="1125422" y="3333052"/>
            <a:ext cx="531690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lvl="0" defTabSz="914400"/>
            <a:r>
              <a:rPr lang="en-US" sz="3600" b="1" dirty="0">
                <a:ln w="0"/>
                <a:solidFill>
                  <a:srgbClr val="E97132">
                    <a:lumMod val="40000"/>
                    <a:lumOff val="60000"/>
                  </a:srgbClr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8 - AutoSum and AutoFill</a:t>
            </a:r>
            <a:endParaRPr kumimoji="0" lang="en-US" sz="3600" b="1" i="0" u="none" strike="noStrike" kern="1200" cap="none" spc="0" normalizeH="0" baseline="0" noProof="0" dirty="0">
              <a:ln w="0"/>
              <a:solidFill>
                <a:srgbClr val="E97132">
                  <a:lumMod val="40000"/>
                  <a:lumOff val="60000"/>
                </a:srgbClr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 panose="02110004020202020204"/>
            </a:endParaRPr>
          </a:p>
        </p:txBody>
      </p:sp>
      <p:pic>
        <p:nvPicPr>
          <p:cNvPr id="48" name="Picture 47" descr="A close-up of a folder&#10;&#10;AI-generated content may be incorrect.">
            <a:extLst>
              <a:ext uri="{FF2B5EF4-FFF2-40B4-BE49-F238E27FC236}">
                <a16:creationId xmlns:a16="http://schemas.microsoft.com/office/drawing/2014/main" id="{9B5A040A-E198-88D2-D06E-C366240B98A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2193" y="3260923"/>
            <a:ext cx="774618" cy="774618"/>
          </a:xfrm>
          <a:prstGeom prst="rect">
            <a:avLst/>
          </a:prstGeom>
        </p:spPr>
      </p:pic>
      <p:sp>
        <p:nvSpPr>
          <p:cNvPr id="51" name="Oval 50">
            <a:extLst>
              <a:ext uri="{FF2B5EF4-FFF2-40B4-BE49-F238E27FC236}">
                <a16:creationId xmlns:a16="http://schemas.microsoft.com/office/drawing/2014/main" id="{76A43270-D5E0-C2D0-D162-BF106394E7E1}"/>
              </a:ext>
            </a:extLst>
          </p:cNvPr>
          <p:cNvSpPr/>
          <p:nvPr/>
        </p:nvSpPr>
        <p:spPr>
          <a:xfrm rot="5400000">
            <a:off x="149290" y="4572460"/>
            <a:ext cx="914400" cy="914400"/>
          </a:xfrm>
          <a:prstGeom prst="ellipse">
            <a:avLst/>
          </a:prstGeom>
          <a:solidFill>
            <a:srgbClr val="0F9ED5"/>
          </a:solidFill>
          <a:ln>
            <a:noFill/>
          </a:ln>
          <a:effectLst>
            <a:outerShdw blurRad="63500" dist="38100" dir="5400000" algn="t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Z" sz="1800" b="0" i="0" u="none" strike="noStrike" kern="1200" cap="none" spc="0" normalizeH="0" baseline="0" noProof="0" dirty="0">
              <a:ln>
                <a:noFill/>
              </a:ln>
              <a:solidFill>
                <a:srgbClr val="156082"/>
              </a:solidFill>
              <a:effectLst/>
              <a:uLnTx/>
              <a:uFillTx/>
              <a:latin typeface="Montserrat SemiBold" panose="00000700000000000000" pitchFamily="2" charset="0"/>
              <a:ea typeface="+mn-ea"/>
              <a:cs typeface="+mn-cs"/>
            </a:endParaRP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A0F9B026-C013-7F7F-ACE7-B3A8B6DCFC1B}"/>
              </a:ext>
            </a:extLst>
          </p:cNvPr>
          <p:cNvGrpSpPr/>
          <p:nvPr/>
        </p:nvGrpSpPr>
        <p:grpSpPr>
          <a:xfrm>
            <a:off x="-9067487" y="4569526"/>
            <a:ext cx="10131175" cy="945045"/>
            <a:chOff x="-7180886" y="3075286"/>
            <a:chExt cx="8103890" cy="936064"/>
          </a:xfrm>
          <a:gradFill>
            <a:gsLst>
              <a:gs pos="0">
                <a:srgbClr val="0F9ED5"/>
              </a:gs>
              <a:gs pos="100000">
                <a:srgbClr val="7EC7E3"/>
              </a:gs>
            </a:gsLst>
            <a:lin ang="5400000" scaled="1"/>
          </a:gradFill>
        </p:grpSpPr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5765E2D4-5B64-1DA7-F19F-97A68DE6B242}"/>
                </a:ext>
              </a:extLst>
            </p:cNvPr>
            <p:cNvSpPr/>
            <p:nvPr/>
          </p:nvSpPr>
          <p:spPr>
            <a:xfrm rot="5400000">
              <a:off x="-3586141" y="-519459"/>
              <a:ext cx="914400" cy="810389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D5614979-EF98-EF1E-5801-BA4571DD1AAD}"/>
                </a:ext>
              </a:extLst>
            </p:cNvPr>
            <p:cNvSpPr/>
            <p:nvPr/>
          </p:nvSpPr>
          <p:spPr>
            <a:xfrm rot="5400000">
              <a:off x="-6977232" y="3188437"/>
              <a:ext cx="914400" cy="731425"/>
            </a:xfrm>
            <a:prstGeom prst="ellipse">
              <a:avLst/>
            </a:prstGeom>
            <a:solidFill>
              <a:srgbClr val="0F9ED5"/>
            </a:solidFill>
            <a:ln>
              <a:noFill/>
            </a:ln>
            <a:effectLst>
              <a:outerShdw blurRad="63500" dist="38100" dir="5400000" algn="t" rotWithShape="0">
                <a:schemeClr val="tx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18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Montserrat SemiBold" panose="00000700000000000000" pitchFamily="2" charset="0"/>
                <a:ea typeface="+mn-ea"/>
                <a:cs typeface="+mn-cs"/>
              </a:endParaRPr>
            </a:p>
          </p:txBody>
        </p:sp>
      </p:grpSp>
      <p:sp>
        <p:nvSpPr>
          <p:cNvPr id="55" name="Rectangle 54">
            <a:extLst>
              <a:ext uri="{FF2B5EF4-FFF2-40B4-BE49-F238E27FC236}">
                <a16:creationId xmlns:a16="http://schemas.microsoft.com/office/drawing/2014/main" id="{84FCAEF6-19E7-7CC1-12BA-0E4FC101FEBD}"/>
              </a:ext>
            </a:extLst>
          </p:cNvPr>
          <p:cNvSpPr/>
          <p:nvPr/>
        </p:nvSpPr>
        <p:spPr>
          <a:xfrm>
            <a:off x="1148948" y="4663526"/>
            <a:ext cx="7624651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lvl="0" defTabSz="914400"/>
            <a:r>
              <a:rPr lang="en-US" sz="3600" b="1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9 - Flash Fill</a:t>
            </a:r>
            <a:endParaRPr kumimoji="0" lang="en-US" sz="3600" b="1" i="0" u="none" strike="noStrike" kern="1200" cap="none" spc="0" normalizeH="0" baseline="0" noProof="0" dirty="0">
              <a:ln w="0"/>
              <a:solidFill>
                <a:srgbClr val="7030A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 panose="02110004020202020204"/>
            </a:endParaRP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85F26BB4-1182-3577-7AB3-68ECEB30406D}"/>
              </a:ext>
            </a:extLst>
          </p:cNvPr>
          <p:cNvSpPr/>
          <p:nvPr/>
        </p:nvSpPr>
        <p:spPr>
          <a:xfrm rot="5400000">
            <a:off x="234548" y="5764245"/>
            <a:ext cx="914400" cy="914400"/>
          </a:xfrm>
          <a:prstGeom prst="ellipse">
            <a:avLst/>
          </a:prstGeom>
          <a:solidFill>
            <a:srgbClr val="A02B93"/>
          </a:solidFill>
          <a:ln>
            <a:noFill/>
          </a:ln>
          <a:effectLst>
            <a:outerShdw blurRad="63500" dist="38100" dir="5400000" algn="t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Z" sz="1800" b="0" i="0" u="none" strike="noStrike" kern="1200" cap="none" spc="0" normalizeH="0" baseline="0" noProof="0" dirty="0">
              <a:ln>
                <a:noFill/>
              </a:ln>
              <a:solidFill>
                <a:srgbClr val="156082"/>
              </a:solidFill>
              <a:effectLst/>
              <a:uLnTx/>
              <a:uFillTx/>
              <a:latin typeface="Montserrat SemiBold" panose="00000700000000000000" pitchFamily="2" charset="0"/>
              <a:ea typeface="+mn-ea"/>
              <a:cs typeface="+mn-cs"/>
            </a:endParaRP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7F2F373B-F0D4-CEEA-CC6C-13FE8F0F822F}"/>
              </a:ext>
            </a:extLst>
          </p:cNvPr>
          <p:cNvGrpSpPr/>
          <p:nvPr/>
        </p:nvGrpSpPr>
        <p:grpSpPr>
          <a:xfrm>
            <a:off x="-8982229" y="5761311"/>
            <a:ext cx="10131175" cy="945045"/>
            <a:chOff x="-7180886" y="3075286"/>
            <a:chExt cx="8103890" cy="936064"/>
          </a:xfrm>
        </p:grpSpPr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02E6FCBA-DC7A-7C15-7181-21B07464773C}"/>
                </a:ext>
              </a:extLst>
            </p:cNvPr>
            <p:cNvSpPr/>
            <p:nvPr/>
          </p:nvSpPr>
          <p:spPr>
            <a:xfrm rot="5400000">
              <a:off x="-3586141" y="-519459"/>
              <a:ext cx="914400" cy="810389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02B93"/>
                </a:gs>
                <a:gs pos="100000">
                  <a:srgbClr val="CE92C8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8C7E146D-9501-6A94-65D1-B1B9F0003F93}"/>
                </a:ext>
              </a:extLst>
            </p:cNvPr>
            <p:cNvSpPr/>
            <p:nvPr/>
          </p:nvSpPr>
          <p:spPr>
            <a:xfrm rot="5400000">
              <a:off x="-6977232" y="3188437"/>
              <a:ext cx="914400" cy="731425"/>
            </a:xfrm>
            <a:prstGeom prst="ellipse">
              <a:avLst/>
            </a:prstGeom>
            <a:solidFill>
              <a:srgbClr val="A02B93"/>
            </a:solidFill>
            <a:ln>
              <a:noFill/>
            </a:ln>
            <a:effectLst>
              <a:outerShdw blurRad="63500" dist="38100" dir="5400000" algn="t" rotWithShape="0">
                <a:schemeClr val="tx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18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Montserrat SemiBold" panose="00000700000000000000" pitchFamily="2" charset="0"/>
                <a:ea typeface="+mn-ea"/>
                <a:cs typeface="+mn-cs"/>
              </a:endParaRPr>
            </a:p>
          </p:txBody>
        </p:sp>
      </p:grpSp>
      <p:sp>
        <p:nvSpPr>
          <p:cNvPr id="61" name="Rectangle 60">
            <a:extLst>
              <a:ext uri="{FF2B5EF4-FFF2-40B4-BE49-F238E27FC236}">
                <a16:creationId xmlns:a16="http://schemas.microsoft.com/office/drawing/2014/main" id="{F3A7B3E4-B150-1843-4E0C-3D7BC935F6BE}"/>
              </a:ext>
            </a:extLst>
          </p:cNvPr>
          <p:cNvSpPr/>
          <p:nvPr/>
        </p:nvSpPr>
        <p:spPr>
          <a:xfrm>
            <a:off x="1234206" y="5855311"/>
            <a:ext cx="549573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lvl="0" defTabSz="914400"/>
            <a:r>
              <a:rPr lang="en-US" sz="3600" b="1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Exam 3: Functions Basics</a:t>
            </a:r>
            <a:endParaRPr kumimoji="0" lang="en-US" sz="3600" b="1" i="0" u="none" strike="noStrike" kern="1200" cap="none" spc="0" normalizeH="0" baseline="0" noProof="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 panose="02110004020202020204"/>
            </a:endParaRPr>
          </a:p>
        </p:txBody>
      </p:sp>
      <p:pic>
        <p:nvPicPr>
          <p:cNvPr id="50" name="Picture 49" descr="A truck with a container on it&#10;&#10;AI-generated content may be incorrect.">
            <a:extLst>
              <a:ext uri="{FF2B5EF4-FFF2-40B4-BE49-F238E27FC236}">
                <a16:creationId xmlns:a16="http://schemas.microsoft.com/office/drawing/2014/main" id="{399372AF-0E38-9F2B-CA04-39842A4BC07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0461" y="4482465"/>
            <a:ext cx="914400" cy="914400"/>
          </a:xfrm>
          <a:prstGeom prst="rect">
            <a:avLst/>
          </a:prstGeom>
        </p:spPr>
      </p:pic>
      <p:pic>
        <p:nvPicPr>
          <p:cNvPr id="44" name="Picture 43" descr="A magnifying glass on a spool of paper&#10;&#10;AI-generated content may be incorrect.">
            <a:extLst>
              <a:ext uri="{FF2B5EF4-FFF2-40B4-BE49-F238E27FC236}">
                <a16:creationId xmlns:a16="http://schemas.microsoft.com/office/drawing/2014/main" id="{B171331F-6246-4A23-F2C2-5C5A8CA9794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3769" y="5729451"/>
            <a:ext cx="772191" cy="772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56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435 0.00069 L 0.72786 0.00069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60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435 0.00069 L 0.72786 0.00069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60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435 0.0007 L 0.72787 0.0007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60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434 0.00069 L 0.72787 0.00069 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60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435 0.00069 L 0.72786 0.00069 " pathEditMode="relative" rAng="0" ptsTypes="AA">
                                      <p:cBhvr>
                                        <p:cTn id="50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60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33" grpId="0"/>
      <p:bldP spid="41" grpId="0"/>
      <p:bldP spid="55" grpId="0"/>
      <p:bldP spid="6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DBD556-1645-2A74-BFB8-2B6CEC181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F062C5C3-51F8-B15D-814B-B6B6684329C5}"/>
              </a:ext>
            </a:extLst>
          </p:cNvPr>
          <p:cNvGrpSpPr/>
          <p:nvPr/>
        </p:nvGrpSpPr>
        <p:grpSpPr>
          <a:xfrm>
            <a:off x="75969" y="185439"/>
            <a:ext cx="3410275" cy="892109"/>
            <a:chOff x="75969" y="185439"/>
            <a:chExt cx="3410275" cy="89210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0EE9D98-DD04-74A0-18DC-A20BF62C4FF1}"/>
                </a:ext>
              </a:extLst>
            </p:cNvPr>
            <p:cNvSpPr/>
            <p:nvPr/>
          </p:nvSpPr>
          <p:spPr>
            <a:xfrm>
              <a:off x="1838036" y="246551"/>
              <a:ext cx="164820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Excel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Training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for Beginners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1B539F1-1584-BE2A-C3E3-757B6706DE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969" y="185439"/>
              <a:ext cx="1762067" cy="892109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4875BA5-F6B2-A4BC-1648-4EC24DFACF7A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2D27072-A422-7FF8-46DB-4FB826E931EF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D617CC3-319C-093D-79F7-D13D9EF167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49B42F7-3CD2-8FCC-98E2-67152795CD7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6BBF4275-5A09-3A44-4B2D-7C4FBB562EB9}"/>
              </a:ext>
            </a:extLst>
          </p:cNvPr>
          <p:cNvSpPr/>
          <p:nvPr/>
        </p:nvSpPr>
        <p:spPr>
          <a:xfrm>
            <a:off x="2907102" y="2551837"/>
            <a:ext cx="8367623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Excel Formulas and Functions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101D8F5-79CB-FE70-EE2E-503BBB4588D1}"/>
              </a:ext>
            </a:extLst>
          </p:cNvPr>
          <p:cNvSpPr/>
          <p:nvPr/>
        </p:nvSpPr>
        <p:spPr>
          <a:xfrm>
            <a:off x="9036704" y="185439"/>
            <a:ext cx="286649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SAID FAWZY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E76FCB-6682-381C-6607-E53C2CC9BB3E}"/>
              </a:ext>
            </a:extLst>
          </p:cNvPr>
          <p:cNvSpPr/>
          <p:nvPr/>
        </p:nvSpPr>
        <p:spPr>
          <a:xfrm>
            <a:off x="1593013" y="2751675"/>
            <a:ext cx="641230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473639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E9A76-043F-EE11-3B2F-5648A237E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96504E4-A301-915C-2D52-AF5BEE54BA23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44ED3FA-4D22-F2EB-CE0C-F69C897410E1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F3D2BD3-0803-8065-6F1F-79C2FD89A2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3E66636-E045-6227-0842-8BB6CCD48D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BF8815F2-C39E-9521-18F0-3E4DE13B5CC4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Excel Formulas and Functions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82D4E7-34AC-BABD-5432-A8203C65FA4F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Write Formula Directly in a cell</a:t>
            </a:r>
          </a:p>
        </p:txBody>
      </p:sp>
      <p:pic>
        <p:nvPicPr>
          <p:cNvPr id="6" name="Picture 5" descr="A screenshot of a calendar&#10;&#10;AI-generated content may be incorrect.">
            <a:extLst>
              <a:ext uri="{FF2B5EF4-FFF2-40B4-BE49-F238E27FC236}">
                <a16:creationId xmlns:a16="http://schemas.microsoft.com/office/drawing/2014/main" id="{0D6B858B-209C-681E-92E8-FCB33A4609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1711" y="2092358"/>
            <a:ext cx="4246780" cy="1336642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E2782E3-F6B0-6A07-4EA4-8C03E284CB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8909" y="3796250"/>
            <a:ext cx="5317815" cy="1344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859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AC097-BE04-D99B-332F-5CC8D037D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976F45E-23F6-C484-BACC-250AFBEC0AE5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602C848-F33A-E474-C2DF-AF1DBAE67D37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EC53F8E-6077-EB7F-0233-10F9F91ED9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5525160-D933-D9C5-A844-AD68DA2207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D0A41804-1A46-AAF4-3DC1-C885DC625382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Excel Formulas and Functions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6A36E4-009E-8BE5-FC87-9ED31CB3FD85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Write Formula Using Cell Referencing</a:t>
            </a:r>
          </a:p>
        </p:txBody>
      </p:sp>
      <p:pic>
        <p:nvPicPr>
          <p:cNvPr id="2" name="Picture 1" descr="A screenshot of a graph&#10;&#10;AI-generated content may be incorrect.">
            <a:extLst>
              <a:ext uri="{FF2B5EF4-FFF2-40B4-BE49-F238E27FC236}">
                <a16:creationId xmlns:a16="http://schemas.microsoft.com/office/drawing/2014/main" id="{234FFE33-7CFA-4677-DE44-661581C0E1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0379" y="1598451"/>
            <a:ext cx="2751637" cy="214740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ABDD5EE-28A0-D71F-BD2A-2381847D53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4096" y="1931088"/>
            <a:ext cx="1969883" cy="1969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459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6A0DF-A48F-9A7B-5E05-EA08ACF0F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CC66DA1F-D331-C06D-B13C-7C33EFEED7EC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343CDF8-3CBA-8D9B-258A-B79D3DC9766F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3E29932-79B2-9CB0-BCA8-13BE4A3C66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647B9EE-706A-7668-917F-E8D4F571D3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0DFD14A-8B91-9F82-5995-1B355FA87C42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Excel Formulas and Functions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D1FA9D-D83A-186B-2EB1-1A0B7D0ADB06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Functions</a:t>
            </a: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542D707-368C-C52E-EF5B-CCCCF536B3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7463" y="2510446"/>
            <a:ext cx="7937074" cy="1837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776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9F114-4592-1B0E-F07D-41A47FB78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7E0FA66D-DFD4-8B00-0721-7B1D63AD287D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BCB608B-1061-7E17-A75C-ED08E443249E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524C255-DA0A-73B2-9297-F63AAFC390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A65FE15-4C4E-935B-4748-A12E12648C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464B55F-414B-2366-C36B-C43A9216A545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Excel Formulas and Functions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34D129-2D1D-293F-CD5E-132CB532C47B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SUM Function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E01B59C-FBBB-42A6-1B4B-0F9FDE7416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666" y="1815633"/>
            <a:ext cx="2548501" cy="3770204"/>
          </a:xfrm>
          <a:prstGeom prst="rect">
            <a:avLst/>
          </a:prstGeom>
        </p:spPr>
      </p:pic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FC7F273-6F9E-5BD6-336E-C35AD6F0AB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1411" y="2613290"/>
            <a:ext cx="2935797" cy="2746797"/>
          </a:xfrm>
          <a:prstGeom prst="rect">
            <a:avLst/>
          </a:prstGeom>
        </p:spPr>
      </p:pic>
      <p:pic>
        <p:nvPicPr>
          <p:cNvPr id="6" name="Picture 5" descr="A close up of a number&#10;&#10;AI-generated content may be incorrect.">
            <a:extLst>
              <a:ext uri="{FF2B5EF4-FFF2-40B4-BE49-F238E27FC236}">
                <a16:creationId xmlns:a16="http://schemas.microsoft.com/office/drawing/2014/main" id="{06D8D8A1-F867-BCD3-05AF-FABC727044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2889" y="3519712"/>
            <a:ext cx="4380031" cy="988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303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B95F9-2BC4-5059-3A27-547FAC997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6FDBBB10-A0C8-F913-371B-79B782BD89C8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90A8E23-80CC-C940-2C0C-87FA1F090943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500B4B3-AEA2-F7CE-2A38-2A09C3FECD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F936174-741C-5451-5306-DD0C65E1B93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B859F606-9D9C-68ED-9653-5814CE1E6B6A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Excel Formulas and Functions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8A4D22-D5ED-4B80-9E74-9364048CE6C3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SUM Function</a:t>
            </a:r>
          </a:p>
        </p:txBody>
      </p:sp>
      <p:pic>
        <p:nvPicPr>
          <p:cNvPr id="5" name="Picture 4" descr="A screenshot of a calendar&#10;&#10;AI-generated content may be incorrect.">
            <a:extLst>
              <a:ext uri="{FF2B5EF4-FFF2-40B4-BE49-F238E27FC236}">
                <a16:creationId xmlns:a16="http://schemas.microsoft.com/office/drawing/2014/main" id="{4C36D588-C203-DDA4-30C1-E1A8B7720E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560" y="1813385"/>
            <a:ext cx="2999724" cy="4270875"/>
          </a:xfrm>
          <a:prstGeom prst="rect">
            <a:avLst/>
          </a:prstGeom>
        </p:spPr>
      </p:pic>
      <p:pic>
        <p:nvPicPr>
          <p:cNvPr id="7" name="Picture 6" descr="A screenshot of a calendar&#10;&#10;AI-generated content may be incorrect.">
            <a:extLst>
              <a:ext uri="{FF2B5EF4-FFF2-40B4-BE49-F238E27FC236}">
                <a16:creationId xmlns:a16="http://schemas.microsoft.com/office/drawing/2014/main" id="{F268692E-8120-9CE4-AA7F-8B7960D0D0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474263"/>
            <a:ext cx="2290979" cy="4221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817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4078A-36CD-8C00-4203-12563455C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C20588B5-CA47-329B-F755-EE845658277A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891CBA6-61A2-BDB6-6F18-2C2F02EE1471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629D248-A05A-D511-5445-B255198F0F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BB1AE61-4504-11B7-69DE-60F759A81C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29C32E62-489A-FEB7-4347-A4E4BCB19439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Excel Formulas and Functions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96D1CD-7118-E717-8C64-01E305C7DA08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Math Operators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B0E8FA2-7FE9-70BB-5D5E-71174FF162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2240" y="2433502"/>
            <a:ext cx="4759443" cy="2799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731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BA364-9161-0B80-D011-D68D70F49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918DD5D5-CBB2-A69D-A663-079A86522080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43C5098-239E-F5AD-7A2F-2343B348E322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EB4E76B-4C0C-618C-EC0C-1A57C5E666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6063344-4B46-3211-6B3E-42C073CAB7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BF77DD39-44B2-F1A1-9FFA-525AE94B40CF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Excel Formulas and Functions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B35E26-DFC5-EFEA-E1EC-B17C22B68D18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BODMAS Principle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232A7FC-1E30-BDC6-1B9B-F0E8167497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8280" y="2008509"/>
            <a:ext cx="9656966" cy="3044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604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109269-411D-01E5-3CBB-A101539A9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61C14EA-7E48-D90F-3C73-4296B754C40D}"/>
              </a:ext>
            </a:extLst>
          </p:cNvPr>
          <p:cNvGrpSpPr/>
          <p:nvPr/>
        </p:nvGrpSpPr>
        <p:grpSpPr>
          <a:xfrm>
            <a:off x="75969" y="185439"/>
            <a:ext cx="3410275" cy="892109"/>
            <a:chOff x="75969" y="185439"/>
            <a:chExt cx="3410275" cy="89210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EBF1A7D-17F0-BB15-76C0-146C4E5F4A32}"/>
                </a:ext>
              </a:extLst>
            </p:cNvPr>
            <p:cNvSpPr/>
            <p:nvPr/>
          </p:nvSpPr>
          <p:spPr>
            <a:xfrm>
              <a:off x="1838036" y="246551"/>
              <a:ext cx="164820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Excel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Training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for Beginners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1AE76AF-33F6-E6CC-4655-073C91E36F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969" y="185439"/>
              <a:ext cx="1762067" cy="892109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BA1F3C9-E17A-796D-299E-3DE73C173686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4AA2355-4E77-77F2-A164-B1DC0091B377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9FF6DA5-85B9-3CC2-B42C-870325CF96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A3051E8-86D9-1327-03E3-4F49042CFE2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80EAA72E-C647-C26A-9E8A-1D4AE33655BA}"/>
              </a:ext>
            </a:extLst>
          </p:cNvPr>
          <p:cNvSpPr/>
          <p:nvPr/>
        </p:nvSpPr>
        <p:spPr>
          <a:xfrm>
            <a:off x="2872597" y="2890174"/>
            <a:ext cx="836762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Sum Function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7BF062F-5EEB-99EF-FBE9-C1B510199BB8}"/>
              </a:ext>
            </a:extLst>
          </p:cNvPr>
          <p:cNvSpPr/>
          <p:nvPr/>
        </p:nvSpPr>
        <p:spPr>
          <a:xfrm>
            <a:off x="9036704" y="185439"/>
            <a:ext cx="286649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SAID FAWZY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9295CD-BE22-F936-CD8E-C7090679BB61}"/>
              </a:ext>
            </a:extLst>
          </p:cNvPr>
          <p:cNvSpPr/>
          <p:nvPr/>
        </p:nvSpPr>
        <p:spPr>
          <a:xfrm>
            <a:off x="1593013" y="2751675"/>
            <a:ext cx="641230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856234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1DADC-4088-FD5A-F86B-792E17CC8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E5510DD0-CF2E-9061-B8FE-0D57E7297C8B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D59EF74-23A6-16D0-5F24-DC76C8C41710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C3461C2-5199-D76D-F58D-C134A84FB8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78745D5-001A-C03F-AB70-127C939C6B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A52E01C0-852B-5ABE-74B2-44B44BAF66D7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Sum Function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5A1FCD-AFD6-7758-B746-79CC82AF518D}"/>
              </a:ext>
            </a:extLst>
          </p:cNvPr>
          <p:cNvSpPr txBox="1"/>
          <p:nvPr/>
        </p:nvSpPr>
        <p:spPr>
          <a:xfrm>
            <a:off x="1708721" y="885333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SUM Function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3226EF8-321B-9921-50CC-EDF8616236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6917" y="1489723"/>
            <a:ext cx="6878166" cy="448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746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1AFA7-BCC0-3335-A6A5-145E523C7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56A5E7F5-1D20-2A07-4BBC-250CCA04B0EA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1173E70-7CE3-7727-0871-F32B86D8D9A9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F11EC48-D2A4-B67B-11A9-D6EB3E3502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DE8DC2A-5EDD-F66E-2EC4-E089C90DE7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27FC6BC9-285F-F27D-DEE9-B775CA7932A8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Sum Function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F38E62-B434-CF46-BE63-C3B3A7737CB3}"/>
              </a:ext>
            </a:extLst>
          </p:cNvPr>
          <p:cNvSpPr txBox="1"/>
          <p:nvPr/>
        </p:nvSpPr>
        <p:spPr>
          <a:xfrm>
            <a:off x="1708721" y="885333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SUM Function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5DB3D2-ABA1-C07E-C690-B57751A5A3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7012" y="1089753"/>
            <a:ext cx="3336125" cy="4990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527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A29E6-D3E5-BB10-C419-54965C6AC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5B63BBE2-4326-18FD-4AF2-DF913310D956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D35D5FE-B904-1D64-B6C7-489039D3848A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E4E5F0E-EDAC-7CB2-BC3F-FFFEDFE9B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DCCFA67-9B21-EE5F-2D5C-B93F73A34B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9A4C6AFA-5106-AFC4-4475-7845D1D6139D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Sum Function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2143A7-E026-FAAB-FE9D-7E1F001952E0}"/>
              </a:ext>
            </a:extLst>
          </p:cNvPr>
          <p:cNvSpPr txBox="1"/>
          <p:nvPr/>
        </p:nvSpPr>
        <p:spPr>
          <a:xfrm>
            <a:off x="1708721" y="885333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Formula Dialogue Box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BAE2E52-3917-EEAF-2529-625B86FF79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5107" y="2062035"/>
            <a:ext cx="4472009" cy="87367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DC0DBFB-04A6-E6D9-244F-395B7FC753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6765" y="3429000"/>
            <a:ext cx="7248540" cy="2232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179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CFB15-8745-309C-9405-EDE290BE4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9CC038AC-50B7-974F-A3CD-0F8E7E757529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2853F12-EC66-AAFE-FB1B-C269212841FD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A4321DA-B9DE-15DA-17F1-709D02A3FE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9479EF2-1F93-9279-AD1B-23BA2A138E9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B4EFFA1-C85E-ACEE-64E5-57026B01498C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Sum Function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75AAA5-FF6C-91C2-18BB-024DE99FF4CE}"/>
              </a:ext>
            </a:extLst>
          </p:cNvPr>
          <p:cNvSpPr txBox="1"/>
          <p:nvPr/>
        </p:nvSpPr>
        <p:spPr>
          <a:xfrm>
            <a:off x="1708721" y="885333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Formula Dialogue Box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6C188F-5B61-F1C2-67CD-4694EF4B5B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4931" y="1660103"/>
            <a:ext cx="4686754" cy="411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220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E2606-4CF3-28B0-AEBE-49E2026B1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2E9BC23C-C6CD-544C-6027-A34142C0516A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D6DA079-AA5E-215B-FE78-6BFB6CBDD3BD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C0B835B-B610-0881-663D-98BDE9F925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F611546-3A97-260E-4541-52343440C2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D54D17F0-4E2D-DDB9-4955-F355E8E74BAC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Sum Function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DF7D32-B160-76E1-1811-626E8F4FC9EF}"/>
              </a:ext>
            </a:extLst>
          </p:cNvPr>
          <p:cNvSpPr txBox="1"/>
          <p:nvPr/>
        </p:nvSpPr>
        <p:spPr>
          <a:xfrm>
            <a:off x="1708721" y="885333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Formula Dialogue Box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2379470-2853-D9A6-9D4D-AC28BD9BD5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7566" y="1701261"/>
            <a:ext cx="5678498" cy="3327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317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738BE-2302-AAC4-C976-49C03BE88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5B07B527-3291-8D72-A15C-AF3A0624D675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42DAD47-5DE8-58A5-18D3-C89BE379D063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5E1E82F-1FC4-5A79-2B24-F759E9E689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4A038B1-E723-7FB1-0948-F5A403A7AE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9E45C1C1-D462-C8E0-54A7-7B9BBB69EF43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Sum Function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AA37A8-60FC-387F-B83E-D33276AF6111}"/>
              </a:ext>
            </a:extLst>
          </p:cNvPr>
          <p:cNvSpPr txBox="1"/>
          <p:nvPr/>
        </p:nvSpPr>
        <p:spPr>
          <a:xfrm>
            <a:off x="1708721" y="885333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Formula Dialogue Box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9FE883E-9F6D-CE4D-135C-01F766214F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6272" y="1823108"/>
            <a:ext cx="6275644" cy="3632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738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397F4-5929-346E-0F46-A2368EE18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B020B06D-56CC-BD86-F68A-2A7641F883B5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5BD1233-3BCE-B8C0-14B4-9D8026F53119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E28F0C3-5B81-1164-32D5-5A7F68906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B39F77F-A6EA-8C67-073B-89AA955B81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EF1C8134-F0F3-4ED9-5AC1-FA281A3D3277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Sum Function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5798FA-877F-9B04-E5AC-258712AD8F94}"/>
              </a:ext>
            </a:extLst>
          </p:cNvPr>
          <p:cNvSpPr txBox="1"/>
          <p:nvPr/>
        </p:nvSpPr>
        <p:spPr>
          <a:xfrm>
            <a:off x="1708721" y="885333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Formula Dialogue Box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37906F0-B4F3-15F0-CC37-3FA20C53EC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5593" y="1791345"/>
            <a:ext cx="6216231" cy="4181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99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76B68-CC26-84B1-49A4-ED128718C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828F880F-5DF3-8CF0-E653-A6CF7386DC10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BC0C44E-9112-E29B-20CB-C2368169D013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76D4B1B-21A2-D24D-2114-9DF4D36743A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24BAB39-9F8F-6434-52BF-0C10A71C9B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C1E89BC0-3797-E442-82B2-7D2018F3D7E5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Sum Function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38E9EB-8666-8950-2D94-F5B6E9E16317}"/>
              </a:ext>
            </a:extLst>
          </p:cNvPr>
          <p:cNvSpPr txBox="1"/>
          <p:nvPr/>
        </p:nvSpPr>
        <p:spPr>
          <a:xfrm>
            <a:off x="1708721" y="885333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AutoSum Button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FE55124-0529-0D90-2BED-ED1EE52826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5848" y="1711563"/>
            <a:ext cx="5040994" cy="17174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A1EE3ED-1455-5FE3-27D4-018A0EFCCC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1810" y="1857960"/>
            <a:ext cx="1970338" cy="2789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082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CF2C6-D17C-146D-E01C-2B631531F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4A70ACA4-A56A-5BB4-4362-4986A69AE79D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DDEE80B-4ED1-D3CA-E315-95AF3E0EABD7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B9C5E66-3C1A-0DFD-72FD-13132B3F84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B3CE3F0-B0A4-38B0-39A3-C11613454BF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A72608E-C4F8-11B2-19AD-9B995C8284E8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Sum Function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515F2F-3291-64A2-5347-D8489DE1E375}"/>
              </a:ext>
            </a:extLst>
          </p:cNvPr>
          <p:cNvSpPr txBox="1"/>
          <p:nvPr/>
        </p:nvSpPr>
        <p:spPr>
          <a:xfrm>
            <a:off x="1708721" y="885333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AutoSum Button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BC0C00-44C7-9904-98B9-B2C1FDA87E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6760" y="1546633"/>
            <a:ext cx="2148248" cy="422829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FB3A4D2-3C88-70AA-46EA-ADEA3A1FF2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3008" y="3207329"/>
            <a:ext cx="3914010" cy="906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556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C34BC-9F22-5927-E3ED-D0CD4AD79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D0825334-1325-D2DE-82E2-AD4E9B04C80A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D3651F9-58A9-BD8B-A251-1B398E4B8DC2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2F0C6B5-97D0-B691-530B-1E515A8CB1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5E6AF7A-9DFD-7F8F-683A-35E9FE540F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43506751-2009-7304-FB67-4E041924ECBE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Sum Function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FFD064-C49B-48BE-EECB-BBCDB7D395B9}"/>
              </a:ext>
            </a:extLst>
          </p:cNvPr>
          <p:cNvSpPr txBox="1"/>
          <p:nvPr/>
        </p:nvSpPr>
        <p:spPr>
          <a:xfrm>
            <a:off x="1708721" y="885333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Warning Massage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42906A9-96B3-4185-52C4-1644FB2563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277" y="2066531"/>
            <a:ext cx="10190022" cy="64633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275DE2A-7555-9DB4-C895-E88A968650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7907" y="3122404"/>
            <a:ext cx="4220346" cy="2850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408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F9EC6-1DE4-F33C-7B53-173B1DF93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85742A2C-6D32-E807-6F30-E5C6E2BCAD35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095C350-6243-AE25-E374-553112A1F55D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80AEA0C-98B7-FFBD-6A98-1D1EABF6A0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80773EA-532E-3120-5486-0E535DDAC4F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37AF335F-2D12-A6EF-AA85-406BD90A968B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Sum Function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630EB3-331A-659D-8B80-AB1117EF294F}"/>
              </a:ext>
            </a:extLst>
          </p:cNvPr>
          <p:cNvSpPr txBox="1"/>
          <p:nvPr/>
        </p:nvSpPr>
        <p:spPr>
          <a:xfrm>
            <a:off x="1708721" y="885333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Warning Massage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B88DF5-4DEE-752B-E349-7A41FEFDD1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1004" y="2086611"/>
            <a:ext cx="7897938" cy="2684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54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19019E-316F-BCF5-9CB6-1CB1F13E2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3D19CC12-8800-A709-ABDB-0E2E8AD195CF}"/>
              </a:ext>
            </a:extLst>
          </p:cNvPr>
          <p:cNvGrpSpPr/>
          <p:nvPr/>
        </p:nvGrpSpPr>
        <p:grpSpPr>
          <a:xfrm>
            <a:off x="75969" y="185439"/>
            <a:ext cx="3410275" cy="892109"/>
            <a:chOff x="75969" y="185439"/>
            <a:chExt cx="3410275" cy="89210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3A497BB-3425-6256-1DB6-F97C24A9960C}"/>
                </a:ext>
              </a:extLst>
            </p:cNvPr>
            <p:cNvSpPr/>
            <p:nvPr/>
          </p:nvSpPr>
          <p:spPr>
            <a:xfrm>
              <a:off x="1838036" y="246551"/>
              <a:ext cx="164820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Excel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Training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for Beginners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18D925B-F3F5-00CF-03F3-040F945A81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969" y="185439"/>
              <a:ext cx="1762067" cy="892109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4AC386C-1587-1F47-F9E1-2A7A6ABCFF51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28B2316-66B1-87D3-7FED-D59E2F268AD2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CFA6285-170A-B5A3-FA6D-C5462DFE1F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B8C4743-1FBF-9B14-42AD-55084D28498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7A48A200-73F8-0E8F-15BE-92AA341F00F2}"/>
              </a:ext>
            </a:extLst>
          </p:cNvPr>
          <p:cNvSpPr/>
          <p:nvPr/>
        </p:nvSpPr>
        <p:spPr>
          <a:xfrm>
            <a:off x="2907102" y="2551837"/>
            <a:ext cx="8367623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COUNT and COUNTA Functions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6AEB183-D751-FD5B-A6A8-89DF9D7B9651}"/>
              </a:ext>
            </a:extLst>
          </p:cNvPr>
          <p:cNvSpPr/>
          <p:nvPr/>
        </p:nvSpPr>
        <p:spPr>
          <a:xfrm>
            <a:off x="9036704" y="185439"/>
            <a:ext cx="286649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SAID FAWZY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B82527-A1C5-0FAB-47D5-210E6E37B3E5}"/>
              </a:ext>
            </a:extLst>
          </p:cNvPr>
          <p:cNvSpPr/>
          <p:nvPr/>
        </p:nvSpPr>
        <p:spPr>
          <a:xfrm>
            <a:off x="1593013" y="2751675"/>
            <a:ext cx="641230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38561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77FBD-80B7-4B3A-6800-AFC300419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E1A9FBC4-C1C3-4C3D-782F-A320583339EB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B0BB652-1591-86E8-8D55-86C5D46E4B5F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0C240B8-9AC1-5129-22A3-98022E69D9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82FC98F-6926-6CE3-DE8A-B0136087401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C0507B1B-240E-7C9B-9735-1CE65878A685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COUNT and COUNTA Functions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C4CD17-9F75-39C3-6E6C-2027E5FE6778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COUNT Function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C0F9F4A-7352-A02F-BB60-9710FD6103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5232" y="1699260"/>
            <a:ext cx="8475041" cy="3871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917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DA2D1-5E8A-5BEA-7F1A-A33D4EE3E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574DE673-3B44-3C0B-CCA5-11151885963A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3FFF3D0-F731-027F-B039-2BA0CEDDBB12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AA9AB6-F09A-C992-D8CF-873A4E0F77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B68D358-20BA-FD9C-6B43-DBE18D0A7A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6D4BA7AA-236E-3C5A-3274-351717A1B35C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COUNT and COUNTA Functions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55C209-B7F8-F496-D193-171A3B575289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COUNT Function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28D3DB4-9A2D-8B6B-C370-5D8248F83B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9963" y="1803967"/>
            <a:ext cx="3741994" cy="14204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9867271-BEDF-E6E6-5E2D-129E483E0B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3709" y="3513640"/>
            <a:ext cx="5348784" cy="870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041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7E1E8-207F-D2BA-65CD-FB624A5F2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794B6E7B-01B5-DA82-BE03-EFBA65CDE3FF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F2A9293-C656-B8AA-3C69-973B71812FED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782913D-6382-4C47-51DE-1285B616A1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3E26E6D-93A3-64AB-9973-0CBA621F00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26926599-93AA-62B3-2723-7D39218A4C00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COUNT and COUNTA Functions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09CDC3-CEC5-814B-5DD0-EFD01D94AE25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COUNTA Function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4AC47CA-30DB-1098-60C7-43757EA0A5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2240" y="2444396"/>
            <a:ext cx="6383214" cy="934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285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F7190-B88E-7CE0-602C-F9704AA81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5E5F0E99-BAE7-F8CF-30C0-32333A34FDEB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6103A18-45B2-5867-EF72-43D62C66B2B4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0A5F611-537A-65FB-22F9-D11476CE35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32BD97C-4ACB-2977-E493-23C9DE78D9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2AD4D7A4-F17C-09C3-76D1-53C9B4A93714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COUNT and COUNTA Functions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FD0852-C285-66FB-CB08-A098C9293C0D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COUNTBLANK Function</a:t>
            </a:r>
          </a:p>
        </p:txBody>
      </p:sp>
    </p:spTree>
    <p:extLst>
      <p:ext uri="{BB962C8B-B14F-4D97-AF65-F5344CB8AC3E}">
        <p14:creationId xmlns:p14="http://schemas.microsoft.com/office/powerpoint/2010/main" val="1424806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592CC-1DDD-9DA4-4FCB-400D280E3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6AB1A801-E26B-F4E6-8FDF-C2D778293C94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9F327EB-A374-E56E-351D-105F121D2B9E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CD5CC32-D94B-4F9F-FE1F-51B5A86570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CD183B6-A3EA-A903-22FD-A3BE11556D8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24C2B764-6EBE-5CD1-4389-8A7ADC0D824D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COUNT and COUNTA Functions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6FB10B-6D9C-17C7-0218-5D5B5E2462EF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Insert Function Dialogue Box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EF22049-C26F-FA4A-29B6-8389E3E393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7948" y="1996522"/>
            <a:ext cx="8598599" cy="3470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201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34129-B1C5-11A7-9BD8-44242D679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A646B15C-1725-410D-C105-A03658488FFC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D910F6-38E7-4ABB-3D7B-51FD1E652A45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EC160FD-A7A6-24CA-9A51-01247B5B8F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F6857A0-7A3C-CDCB-F58A-0B91B5EBFB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9F6FBC5-26C4-2677-2BAA-8BC2B36C6272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COUNT and COUNTA Functions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D51911-DBDA-87EC-F198-1E0E923CC682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Using AutoSum Button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ECAFAE5-F759-4730-91C4-C9BE7FB866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3163" y="2098614"/>
            <a:ext cx="1328164" cy="201579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4CD0D75-BFA8-6B21-284A-5B7CBD177C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9211" y="1210716"/>
            <a:ext cx="4298977" cy="4748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335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1BD7C4-214E-B7C8-F837-30D2B4FE0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5D622A91-B4C4-8DF1-DDE1-B610260D4DB9}"/>
              </a:ext>
            </a:extLst>
          </p:cNvPr>
          <p:cNvGrpSpPr/>
          <p:nvPr/>
        </p:nvGrpSpPr>
        <p:grpSpPr>
          <a:xfrm>
            <a:off x="75969" y="185439"/>
            <a:ext cx="3410275" cy="892109"/>
            <a:chOff x="75969" y="185439"/>
            <a:chExt cx="3410275" cy="89210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4F8B5AC-5CFF-EE20-1E1C-9BFB625F3F12}"/>
                </a:ext>
              </a:extLst>
            </p:cNvPr>
            <p:cNvSpPr/>
            <p:nvPr/>
          </p:nvSpPr>
          <p:spPr>
            <a:xfrm>
              <a:off x="1838036" y="246551"/>
              <a:ext cx="164820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Excel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Training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for Beginners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45435A7-C435-0EEE-CAD0-43F8BC7CE7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969" y="185439"/>
              <a:ext cx="1762067" cy="892109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BDD7520-98B4-B311-0AD6-5EE1C5CA6EF1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F2A7447-CD28-47A1-FA38-AF637CEE11F3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C07E927-3DFF-E020-1CB8-FB5D4B3650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63B9643-9BEC-CA32-3459-1FE5BAA035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4E1C5D87-D88C-2FC2-15F9-9D007307088C}"/>
              </a:ext>
            </a:extLst>
          </p:cNvPr>
          <p:cNvSpPr/>
          <p:nvPr/>
        </p:nvSpPr>
        <p:spPr>
          <a:xfrm>
            <a:off x="2846717" y="2890174"/>
            <a:ext cx="836762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AVEARAGE Function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A75855-99BD-7AC3-C870-F1FCF532367F}"/>
              </a:ext>
            </a:extLst>
          </p:cNvPr>
          <p:cNvSpPr/>
          <p:nvPr/>
        </p:nvSpPr>
        <p:spPr>
          <a:xfrm>
            <a:off x="9036704" y="185439"/>
            <a:ext cx="286649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SAID FAWZY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5D2939-033B-7B4E-DADA-622ABD9091A1}"/>
              </a:ext>
            </a:extLst>
          </p:cNvPr>
          <p:cNvSpPr/>
          <p:nvPr/>
        </p:nvSpPr>
        <p:spPr>
          <a:xfrm>
            <a:off x="1593013" y="2751675"/>
            <a:ext cx="641230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177163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3B270-9072-0471-1475-F5974A1DC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6DD9292-45CF-E3F1-1ACD-2F348C05CF2E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E7CE112-0495-6C9E-FB9F-3EB9B24F2188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A0A0548-F926-CAD6-F15E-CC2CDB88A14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2A3C2EB-E902-1465-F299-2BAFDAB1FD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4C609DB4-7F41-1006-436A-CD904D1651DA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AVEARAGE Function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CFE2D9-0982-5205-22DD-A7BCB7F55D75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AVERAGE Function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22F273-5F85-12AF-7DD6-38C62174FF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5488" y="1713145"/>
            <a:ext cx="7573944" cy="4243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330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49DE5-137C-1D43-51E7-06859290B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03B03CF-3F8C-E475-79E4-BFD7E9FB6285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B595D85-2733-901B-CE12-16484020C55C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94E1C8E-E21D-66EA-0774-5094A71C4E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8494B54-BDF8-5246-9172-61C75F7C81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162D36C-A97C-0FD4-802F-BA9CEE50E8EA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AVEARAGE Function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04E1BA-3FA6-4E65-0455-451E0842ADBC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AVERAGE Function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ADFEBF1-3860-CEC6-5044-66628BF895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8721" y="2433987"/>
            <a:ext cx="9673137" cy="1573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332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5159D-A116-F681-2C1B-EDB2F2B05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21ECCD74-6961-D7D0-DF29-E44514AD5C0B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C1DC7A3-8D39-B79B-B302-222157FB9F13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0C9D7B5-D785-2979-DBC3-A88D405936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F1A69F1-EBBA-E3E4-1F84-C4555887B4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DB2CDB0-A779-1A5C-B90B-0C5A77D775F2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AVEARAGE Function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6CB74D-0336-36C1-14F4-A7D3E2E929CB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AutoFill Formula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8CD20A0-6D18-E680-B9BF-8B3A16480C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193" y="1779126"/>
            <a:ext cx="2707236" cy="78961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9D5DA93-9D24-AD85-59D7-DF58A2FEF8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9369" y="2018326"/>
            <a:ext cx="6281768" cy="3379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366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129F0-4613-0F98-C108-881B9449D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ADCAC1AC-1DB5-7F17-AB3A-EF435A1D5073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44C441C-C36A-FC5E-3F7F-64D1678E63F0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DDF181E-437A-C2CD-1CEC-8183BC96D2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B07ECE2-E45D-0E8E-5C89-75FA78C647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D3BDA990-2805-C7CD-7827-731E709E2167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AVEARAGE Function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1DB888-0C2E-150D-35F4-A75588FBE349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Relative Referencing</a:t>
            </a:r>
          </a:p>
        </p:txBody>
      </p:sp>
    </p:spTree>
    <p:extLst>
      <p:ext uri="{BB962C8B-B14F-4D97-AF65-F5344CB8AC3E}">
        <p14:creationId xmlns:p14="http://schemas.microsoft.com/office/powerpoint/2010/main" val="1071348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30A3C0-DC3B-285A-752E-876BCFFF4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F9498DBC-82FA-A664-F54A-C166EBC61DCB}"/>
              </a:ext>
            </a:extLst>
          </p:cNvPr>
          <p:cNvGrpSpPr/>
          <p:nvPr/>
        </p:nvGrpSpPr>
        <p:grpSpPr>
          <a:xfrm>
            <a:off x="75969" y="185439"/>
            <a:ext cx="3410275" cy="892109"/>
            <a:chOff x="75969" y="185439"/>
            <a:chExt cx="3410275" cy="89210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30A293CC-37E0-7081-688A-8F4B2BEA7138}"/>
                </a:ext>
              </a:extLst>
            </p:cNvPr>
            <p:cNvSpPr/>
            <p:nvPr/>
          </p:nvSpPr>
          <p:spPr>
            <a:xfrm>
              <a:off x="1838036" y="246551"/>
              <a:ext cx="164820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Excel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Training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for Beginners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1232727-87B7-29F1-E9AA-A4428C88D96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969" y="185439"/>
              <a:ext cx="1762067" cy="892109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F74F07A-1EC8-AE23-412D-538ED2E1C27E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8BFF549-FE5B-3AB5-AAD7-23CD2244F096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303A601-4D86-1FBD-7CCF-D00AAF7AA1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102CA09-094F-0BC4-2497-C4347AC56B9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53B70B67-86F7-59F6-6093-0D922223F3E9}"/>
              </a:ext>
            </a:extLst>
          </p:cNvPr>
          <p:cNvSpPr/>
          <p:nvPr/>
        </p:nvSpPr>
        <p:spPr>
          <a:xfrm>
            <a:off x="2898475" y="2547575"/>
            <a:ext cx="8367623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MIN and MAX Functions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759C67-7A20-DA1F-7733-D9D01574825D}"/>
              </a:ext>
            </a:extLst>
          </p:cNvPr>
          <p:cNvSpPr/>
          <p:nvPr/>
        </p:nvSpPr>
        <p:spPr>
          <a:xfrm>
            <a:off x="9036704" y="185439"/>
            <a:ext cx="286649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SAID FAWZY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59AA5A-1AFD-AF16-C8ED-9ACAEEF8D5DF}"/>
              </a:ext>
            </a:extLst>
          </p:cNvPr>
          <p:cNvSpPr/>
          <p:nvPr/>
        </p:nvSpPr>
        <p:spPr>
          <a:xfrm>
            <a:off x="1593013" y="2751675"/>
            <a:ext cx="641230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130866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91FD0-88E7-6AC5-20EC-889CE69A9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A7E72E77-EF6C-8421-1823-EA15DD941ABD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FD4EF81-3447-BBE2-432A-19750F1F8489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44462EA-F758-F1E8-0DEB-601A5C1AEF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7B01D76-ABBE-0752-D525-3021052E14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482F71A6-43AA-9CEE-B9CB-4C3F35CA08D5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MIN and MAX Functions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B92777-671F-4892-7841-773B91D10D62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MIN and MAX Functions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7902EB-0DDF-1D2D-6BB9-1C77E02D10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4400" y="2011875"/>
            <a:ext cx="8115684" cy="3635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348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00AA1-494F-30DE-D351-AF4948F69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654DB395-D7F7-B7AF-32D2-C1683B429D1C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8225C45-E4E6-691C-25A8-78EC0EA39BB0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121B46A-7F2B-38A6-28E3-FB27547305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760B115-4EDC-093D-93B9-3FB0571E199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37029DDE-5AAE-BB57-C82B-BC866F312190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MIN and MAX Functions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E4FACE-CAD9-7BCE-71C9-5F0BA3160E95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MIN and MAX Functions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FD87B27-DC3F-B98A-869A-80F6AD39ED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5134" y="2424263"/>
            <a:ext cx="8921884" cy="1313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834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35595-5085-A567-B769-91409309C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051EA586-7BB0-C54A-D58F-9CF7BD8F8E17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2FE2C90-3AD0-A6DC-A3FD-86207702FE4F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153D886-896B-E357-51FC-ACDE96B9BA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FD87697-A60F-B31E-1BC1-BED6838AF9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65EC8DC2-2FF5-D24F-52FE-B1C624774D26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MIN and MAX Functions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B187D0-1D50-0484-D70F-6EACFBF18821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MIN and MAX Functions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7C82F35-5E3B-B251-8893-EFAEDF3776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6124" y="2830534"/>
            <a:ext cx="8676504" cy="1005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28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66E1A-8D60-6B8F-F625-709F3DBD6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50C8DFF7-DC1E-AAFE-69FB-827DEC124DDB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8A2AD64-BE67-FF34-3408-595CF4181740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9B647E9-2916-0543-8E94-63FF1CE8034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886B535-5CB7-2EB9-397C-308DB0FB83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2E737D3C-40B0-C1B2-1BB3-7F052AB05B43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MIN and MAX Functions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7B0BEA-5E52-5708-AB88-5F17EB48861D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Copy Formula Down Using Shortcut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B912DA5-7CF1-4013-B3E8-628EA9D433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5699" y="1598451"/>
            <a:ext cx="3839438" cy="45397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CF38998-BA6E-55D7-EB9E-A2EAB70079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1997" y="3429000"/>
            <a:ext cx="6150573" cy="646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785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D0E82-626E-5F51-44CA-DD72C171C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E15CB50-BCF4-0EB8-F970-C98A3544E3D6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6CFE436-4468-87EF-4B83-6511CA8CA79A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452F43B-4F51-8AB2-DA29-E855B4EE0C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B6CF2FF-77F4-CB97-90EA-5081882D63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D3D0057F-6E76-221E-DE80-B7078433AE29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MIN and MAX Functions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713A21-80B4-6E00-A238-CCDA90CD266F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Copy Formula Down Using Shortcut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96E5B3A-892D-5ED4-81C4-2EC041F153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193" y="2993818"/>
            <a:ext cx="9854760" cy="870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930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31022C-78CD-EC8A-61F2-D58E7CF88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D6DF33F-5956-CCDD-7337-9F9B3282E221}"/>
              </a:ext>
            </a:extLst>
          </p:cNvPr>
          <p:cNvGrpSpPr/>
          <p:nvPr/>
        </p:nvGrpSpPr>
        <p:grpSpPr>
          <a:xfrm>
            <a:off x="75969" y="185439"/>
            <a:ext cx="3410275" cy="892109"/>
            <a:chOff x="75969" y="185439"/>
            <a:chExt cx="3410275" cy="89210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BAE1402-63CE-0EF6-5564-034D9C944ECC}"/>
                </a:ext>
              </a:extLst>
            </p:cNvPr>
            <p:cNvSpPr/>
            <p:nvPr/>
          </p:nvSpPr>
          <p:spPr>
            <a:xfrm>
              <a:off x="1838036" y="246551"/>
              <a:ext cx="164820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Excel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Training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for Beginners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7EFBE5D-B592-4643-B7B7-0A8FB394DB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969" y="185439"/>
              <a:ext cx="1762067" cy="892109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FC70E8-29D6-039E-60A6-ABDF027A0EE9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23425F6-572D-8BA2-53F8-4DBB3F7C0830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8564237-7EFE-883D-BE39-58D037050E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5C69B1D-F347-F9B3-85F7-AD8EEC539E5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D72B7EE7-584E-4A7C-954F-E965D06A4C78}"/>
              </a:ext>
            </a:extLst>
          </p:cNvPr>
          <p:cNvSpPr/>
          <p:nvPr/>
        </p:nvSpPr>
        <p:spPr>
          <a:xfrm>
            <a:off x="2898475" y="2547575"/>
            <a:ext cx="8367623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Handling Errors in Calculations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6AF365-6EC5-5DD8-432E-68FFCF33F0D4}"/>
              </a:ext>
            </a:extLst>
          </p:cNvPr>
          <p:cNvSpPr/>
          <p:nvPr/>
        </p:nvSpPr>
        <p:spPr>
          <a:xfrm>
            <a:off x="9036704" y="185439"/>
            <a:ext cx="286649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SAID FAWZY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EAC1A6-EDE0-2B10-BB72-557CB45FCDA0}"/>
              </a:ext>
            </a:extLst>
          </p:cNvPr>
          <p:cNvSpPr/>
          <p:nvPr/>
        </p:nvSpPr>
        <p:spPr>
          <a:xfrm>
            <a:off x="1593013" y="2751675"/>
            <a:ext cx="641230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94404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13C77-F379-9667-F4A2-A752085D6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DFC486B-459D-8406-FD05-AA37807D79A2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617F049-F8B0-535D-8112-157DE659BA87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71D74A8-EF3E-FF9B-CBF1-B04D264482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E4A06E87-AF5F-E2C3-2350-DE8C6AFA44B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1FC859D-5972-DA84-314C-C2EF9B62878A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Handling Errors in Calculations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DFEED1-48C9-5D3F-3CC4-5DE60402CB48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Warnings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5D279B8-7BAF-CDE1-FE45-6770CB4619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9954" y="2139836"/>
            <a:ext cx="9270152" cy="2889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752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E6091-4494-F55F-D230-D0BEFF86F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ED9B6BD5-0490-6865-D418-DC2F23F37771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F18314F-0C27-5825-0DCD-01B2A1DAA633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B5F28A2-45E7-0F99-678B-55E2027F35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9AA1963-AE58-8825-41D7-6D0AC72D841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0D8CE7A9-DA76-918F-8FDB-091D64EFA1B4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Handling Errors in Calculations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BC0EAE-0D11-36A0-ACCE-23F9CB6C42BA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Types of Errors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550CB83-6DCF-50E0-4506-4DA3B65F86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6887" y="2258783"/>
            <a:ext cx="5512587" cy="2505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626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8D54F-EA62-AFC0-45B9-7B2B5F020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184E249-80A4-1462-A2D9-F6D77F44474A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ECF157A-467F-79B7-B7C0-F9D8E7A58E21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9C0D6DC-64C6-5709-0EBF-BCAD427D78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9FCB12D-C29E-F036-DEF7-9459504733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7D41E38-EE5F-ECBD-441C-CAA26139C445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Handling Errors in Calculations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F87109-1097-B171-CD7E-7DFA6E1C11D3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#NAME Error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836E65B-5967-C481-4319-A20F486A19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8260" y="2152993"/>
            <a:ext cx="5034071" cy="878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257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3864B-AF4B-9DB1-8274-32E23A83F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923AC125-17C4-87AB-B3F9-D91EE540FFB0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5BC6AC9-D68B-6D1A-D83B-442F7002DD07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D98321A-5E23-1F54-91A1-25AB1F9DAB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C0B7F69-AB58-935C-72C7-5C74A7FF66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A054957-DD5B-9645-6CDE-C944254154ED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Handling Errors in Calculations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72D8C2-D8A2-8FD7-935A-1F93D729B1D3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Formula Auditing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89EF59A-A132-8D2C-27F3-0940FE00CD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2002" y="2165325"/>
            <a:ext cx="7023682" cy="252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800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97BC9-2670-E4F8-61FC-6DA7AFFB7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48AE03FA-6073-FE8D-3A75-57AAA8606A7C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FB9B4F3-FA39-EF93-4FF8-1190FB8B0EA3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001876D-EA6B-E1B2-F207-387E524C74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BBF2581-40A4-56F7-08DE-C3C3A4AB20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3EEC2A5-10A4-92C5-C863-F7AB2928D71C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Handling Errors in Calculations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905D25-4EB4-F133-9D9A-B888F8283688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Trace Precedents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BEAB195-ED0D-1053-5A7B-D316C8A169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668" y="1680207"/>
            <a:ext cx="7579269" cy="292241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8E94783-0916-DFB3-459A-1E38262DF9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1232" y="4798383"/>
            <a:ext cx="3634257" cy="130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391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5F363-29B8-CD20-68E1-B6EC0F674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82E2A6F-1633-B7F1-AC5C-617427FFFF47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E842970-2053-60F9-2003-8DF4F43505AC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139EC0D-2A13-C9F8-D258-52CDBE9500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C8E643C-0128-548B-7EE7-E20EF782C9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A2B3A569-EEA9-459A-B2FF-95A7ABBD7614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Handling Errors in Calculations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DD0F68-D396-76FD-1257-09FAB786EFB8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Trace Dependence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7B18292-AC39-1257-84DC-DA1592D757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2220" y="2545003"/>
            <a:ext cx="6595280" cy="15938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0DC4676-BCD2-EE2B-CB1F-03ED3AD70A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1232" y="4798383"/>
            <a:ext cx="3634257" cy="130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964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3ADE8-EFA7-E941-3D4A-9DC323076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E2B58F83-09C2-A2E2-F477-DA462EC36786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1372AF-C6B1-90C0-B7CC-B26DF7B00B4D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0B58AB3-C50C-F0C7-E478-32574ED0F1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8EA2BD7-B84C-F507-14D4-BD944F4B28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C0807AF2-2616-5713-2395-F21ABDD3C6F4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Handling Errors in Calculations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A827F4-DC33-800D-519C-6AB53099068A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Show Formula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FBF0FB2-B2AA-0745-093B-EEC05513C9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5057" y="2514306"/>
            <a:ext cx="8552863" cy="163560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8E86697-B8FF-625F-0B7F-6F7D47B807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1232" y="4798383"/>
            <a:ext cx="3634257" cy="130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63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C70C0-D276-FA26-DCA5-D12FCC4DB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021AB38-E8E7-6182-8859-3BA9489E5D7D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7530D73-71F0-871B-9973-24D13D938276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D1C6008-DE73-0943-D824-C4CEEF154D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AAA143A-397D-3B2A-4F9B-99AF9CD11A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4B719872-CC74-6683-231B-EEAFA0F057F0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Handling Errors in Calculations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D54D3-D306-4BB9-926B-5CFCCFFBEA01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Error Checking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FDDD88A-97B3-DA07-4E15-DC648755B8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6774" y="1872954"/>
            <a:ext cx="6118452" cy="239051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A4EB8DC-D918-2771-10E7-9C4529732F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1232" y="4798383"/>
            <a:ext cx="3634257" cy="130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412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DCD1A-C3EF-7284-1D39-6FA396AD0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C767AB4C-6A83-BFF4-0AED-76A1BA37C606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8363955-A8A1-F5FE-0E01-E952585ED9C3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055A19D-C286-8E52-04D3-2DA3C0D762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4E29E06-1E8A-6648-4159-F96469FA98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C95D8EA5-3F65-A943-DBE5-9D19C8082233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Handling Errors in Calculations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9773B0-C0DB-C10E-46CF-FF6A6173680E}"/>
              </a:ext>
            </a:extLst>
          </p:cNvPr>
          <p:cNvSpPr txBox="1"/>
          <p:nvPr/>
        </p:nvSpPr>
        <p:spPr>
          <a:xfrm>
            <a:off x="969194" y="952120"/>
            <a:ext cx="3153628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Error Checking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28491BD-9733-2F6B-9C63-E27B24DA61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5889" y="1680207"/>
            <a:ext cx="2706300" cy="10573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3C1081A-6BB2-410D-EEE1-E28C09665D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9142" y="1882239"/>
            <a:ext cx="6376969" cy="34933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B38C039-424A-1DB6-4EE7-1A95A6788237}"/>
              </a:ext>
            </a:extLst>
          </p:cNvPr>
          <p:cNvSpPr txBox="1"/>
          <p:nvPr/>
        </p:nvSpPr>
        <p:spPr>
          <a:xfrm>
            <a:off x="4924928" y="991096"/>
            <a:ext cx="6288504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- Show Calculation Steps </a:t>
            </a:r>
          </a:p>
        </p:txBody>
      </p:sp>
    </p:spTree>
    <p:extLst>
      <p:ext uri="{BB962C8B-B14F-4D97-AF65-F5344CB8AC3E}">
        <p14:creationId xmlns:p14="http://schemas.microsoft.com/office/powerpoint/2010/main" val="38306751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76B1F-89B3-BE97-267B-0D9945112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086503FD-1F17-42EC-6991-E1C1DB2791CD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E957325-BE0A-C01B-D1DE-BFB4C3D18F82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39D0D4D-DA7B-6039-0F68-B5BDEB3CC3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C5A8EC7-2F8D-6386-2A38-0FA1D0D36D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ABB80F28-EF2B-9A0B-76B8-6777B9094F60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Handling Errors in Calculations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0E7FD9-D5DC-9431-98F8-08A9EE5F2280}"/>
              </a:ext>
            </a:extLst>
          </p:cNvPr>
          <p:cNvSpPr txBox="1"/>
          <p:nvPr/>
        </p:nvSpPr>
        <p:spPr>
          <a:xfrm>
            <a:off x="969194" y="952120"/>
            <a:ext cx="3153628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Error Checking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40D0E21-8EA9-2795-615A-4B96ED0989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5889" y="1680207"/>
            <a:ext cx="2706300" cy="10573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B90961D-34B9-DFF1-42EA-48B7BFB12F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9142" y="1882239"/>
            <a:ext cx="6376969" cy="34933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EEABF6A-FED7-E481-726F-1C0CF568F809}"/>
              </a:ext>
            </a:extLst>
          </p:cNvPr>
          <p:cNvSpPr txBox="1"/>
          <p:nvPr/>
        </p:nvSpPr>
        <p:spPr>
          <a:xfrm>
            <a:off x="4924928" y="991096"/>
            <a:ext cx="6288504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- Show Calculation Steps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B31AC3-8F4D-F24F-8DAF-4E1F8F9233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3916" y="1976878"/>
            <a:ext cx="3824696" cy="122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2566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6706C-3AD7-1C47-998A-F21D201FB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60CE35F3-1B59-CBFC-CC79-A3BF44823373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6E7367C-5501-5578-A981-9BB11F2461ED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7CE7574-6826-AA21-4B29-CB784949676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1989DF0-B0E1-F586-BF5A-93A8003BAE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4FB202F5-8E30-E777-1786-C2B3217C56E4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Handling Errors in Calculations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324B70-5D00-53C4-A5A4-C1F0FA82C385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#REF! Error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8378A1C-36ED-97A9-EA3C-949E114820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9605" y="2016874"/>
            <a:ext cx="6294370" cy="1288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778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FCB4A-B5F9-6339-4B3A-487381893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DA0D094C-DF10-C350-CECF-E9E4C535C3D7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5DEB60D-EA21-D92E-B7A7-F4B3BDBE4614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781C298-30AB-C7DF-1521-C513DDDB31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E843C68B-36F3-875A-7507-C32AEA6C4A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37CA6347-C618-A8B0-4954-0889A63FD97A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Handling Errors in Calculations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270A31-9CC4-7E96-2268-32C1C71167C4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#REF! Error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B7ADAB6-BEEF-B448-65F8-38C49D863B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215" y="4808201"/>
            <a:ext cx="2833258" cy="58014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FEE616D-9CA0-4936-979E-C2D86E5276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5822" y="2016434"/>
            <a:ext cx="6998052" cy="19121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6348A54-04D8-ABA8-8BE5-6C552D6D0D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24923" y="4647923"/>
            <a:ext cx="5010088" cy="9231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EBE757C-06D6-7762-C1CD-EAD837F8F310}"/>
              </a:ext>
            </a:extLst>
          </p:cNvPr>
          <p:cNvSpPr txBox="1"/>
          <p:nvPr/>
        </p:nvSpPr>
        <p:spPr>
          <a:xfrm>
            <a:off x="4491647" y="963727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Evaluate Formula</a:t>
            </a:r>
          </a:p>
        </p:txBody>
      </p:sp>
    </p:spTree>
    <p:extLst>
      <p:ext uri="{BB962C8B-B14F-4D97-AF65-F5344CB8AC3E}">
        <p14:creationId xmlns:p14="http://schemas.microsoft.com/office/powerpoint/2010/main" val="39211823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CCE18-BB1C-ADE6-2FCF-C828AA2C3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8F1F4755-F05B-3982-E7CE-BE7E0415061C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F96AE03-12FD-F4C0-A97A-FCDAA88941E0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D0879F5-FC34-D4B4-49AF-5E36E2B3A7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AC5A75C-F69E-96AB-00EB-76F43A6589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C99B5033-D65A-BDA9-BEF5-107A9ABE7490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Handling Errors in Calculations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2FD26A-8515-A75E-7C58-DC8684105012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#REF! Error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148A121-F416-833C-88D1-CEF576B5A6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9138" y="2331141"/>
            <a:ext cx="7735323" cy="2625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769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4C62F-30E5-7231-BE37-3B2C60713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CE0F02E5-57E9-AC26-AD05-21E3666D490B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8036FDC-D119-C261-673D-14563E9F9FDC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F855E81-5494-EEF8-7BA8-6D6B8233E9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AABF87A-DE53-01D0-985C-0A966ADD15C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CA0F044A-27A9-6D47-14E9-993B6F6B38D9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Handling Errors in Calculations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9BF9E9-8641-2613-CDA8-5FD92A6E9DBE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#DIV/0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C2FA55A-4E14-BBA1-E685-64831FD31B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3154" y="1969240"/>
            <a:ext cx="7665237" cy="99045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78A3ED6-E557-5AE1-1E9F-EDBC16B375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9938" y="3429000"/>
            <a:ext cx="8280902" cy="870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593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0F4B7-D757-DCDE-5647-9BBA9EAEE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2D5A5B2B-6D00-D744-B51A-9BEE4C62BDFF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5F86397-76CC-CAB4-8C64-119D2D620717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13ACAEF-F6FD-8C12-C1BB-CC3503E748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8419F1F-B9ED-3DDB-2413-09A7EB13F5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624D598-E667-56AC-475C-8F0AE7D3A003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Handling Errors in Calculations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C4A04C-D2FF-96C6-EE90-84A2CD4BF640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#DIV/0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75366E3-1C0F-B52F-2059-C0D54E2477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9551" y="1944813"/>
            <a:ext cx="8227571" cy="310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185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34EF0D-6A42-4F7C-80AA-07375C13A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087723D1-FC3C-436D-6A6A-40E9609810D3}"/>
              </a:ext>
            </a:extLst>
          </p:cNvPr>
          <p:cNvGrpSpPr/>
          <p:nvPr/>
        </p:nvGrpSpPr>
        <p:grpSpPr>
          <a:xfrm>
            <a:off x="75969" y="185439"/>
            <a:ext cx="3410275" cy="892109"/>
            <a:chOff x="75969" y="185439"/>
            <a:chExt cx="3410275" cy="89210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1205A62-DCFE-E882-BE2A-92BC98A6F7C2}"/>
                </a:ext>
              </a:extLst>
            </p:cNvPr>
            <p:cNvSpPr/>
            <p:nvPr/>
          </p:nvSpPr>
          <p:spPr>
            <a:xfrm>
              <a:off x="1838036" y="246551"/>
              <a:ext cx="164820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Excel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Training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for Beginners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113D15C2-1C96-8873-8CF7-F9778BE395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969" y="185439"/>
              <a:ext cx="1762067" cy="892109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501706E-E27F-11EA-E0A7-0D392D557D89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E51ACCA-961E-BA7A-9B00-C55D254D2E52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3CE4322-87C0-391B-3810-07F803DEE14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044B8C2-EA69-FB9A-EF79-4F8970DAC93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CB503D15-2C02-7F61-FA06-9377457493F0}"/>
              </a:ext>
            </a:extLst>
          </p:cNvPr>
          <p:cNvSpPr/>
          <p:nvPr/>
        </p:nvSpPr>
        <p:spPr>
          <a:xfrm>
            <a:off x="2898475" y="2547575"/>
            <a:ext cx="8367623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Absolute and Relative Referencing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185A07C-BCF2-ABD7-FD76-531C43851D12}"/>
              </a:ext>
            </a:extLst>
          </p:cNvPr>
          <p:cNvSpPr/>
          <p:nvPr/>
        </p:nvSpPr>
        <p:spPr>
          <a:xfrm>
            <a:off x="9036704" y="185439"/>
            <a:ext cx="286649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SAID FAWZY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37DCB8-5D47-DF56-6C6D-815FD45E9C7C}"/>
              </a:ext>
            </a:extLst>
          </p:cNvPr>
          <p:cNvSpPr/>
          <p:nvPr/>
        </p:nvSpPr>
        <p:spPr>
          <a:xfrm>
            <a:off x="1593013" y="2751675"/>
            <a:ext cx="641230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429162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A43E1-7775-C0D8-AB7C-AB0DBAFA3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DA4E8DDC-4C71-317E-BEF4-11A17E9ED51F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4DE66AE-1136-0409-CC29-27E30D998A9A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516CA87-AB72-48BF-6D0A-C3C1D063AD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26156C8-6DED-BF0A-A1FC-7D9B42D6B8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C7E6ECE1-F265-A155-3366-6562FC26E8C5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Absolute and Relative Referencing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432CFE-16C1-7C78-E7D0-1E6CC1234EFB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Relative Referencing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3B8A21D-5F47-762A-29B3-75DEB5E7B9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7910" y="1939447"/>
            <a:ext cx="5058090" cy="171535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4B54D03-5DA3-8DD9-92F1-2B25A05CB5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3367" y="3775532"/>
            <a:ext cx="5058090" cy="2020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903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BE9BB-613B-59ED-59B9-5E6FC26F3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A6B539A-901C-98E2-C1C8-8D3F1BBE99F2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D5FF4E7-468F-2E8B-B638-DE05A7986C06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A13ECC4-4504-7E53-21DA-429FB7F395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EBC47A2-4870-7EE7-737A-665EFF225F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44BAE3E3-86C7-4C4F-10B2-A51D85304040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Absolute and Relative Referencing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F6AB1D-1A0A-C859-5B91-5BAFE79E9E78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Absolute Reference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26A4DB-2696-BB14-4D23-8A13F8AEE1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5019" y="2403127"/>
            <a:ext cx="9945087" cy="2051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110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04691-8F63-C8BD-AF98-6DF1681CC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855F8FA7-6860-4C87-3576-C0890AAFA805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675324B-232C-36BB-187C-97A54EE8C52C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A489B03-6694-6281-0A0A-3EAB20131B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369ADBA-A409-222F-C221-5358845048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CB499D91-3AC5-2EA0-29EB-9648C62E3FAB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Absolute and Relative Referencing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00451E-6870-820F-4534-484E21DAA277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Absolute Reference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D4CAA21-6679-E8F1-EE11-D3858F97A5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8721" y="2254127"/>
            <a:ext cx="9585868" cy="1330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92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6241B-0CB1-7DA3-F880-DF9E2BAF0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70A45A5E-0E1E-BF57-B8E8-827ED818CCD9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F209291-0A0B-D1E8-46E0-25F56E102A59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D2D4BD7-F5A1-2E8A-CC48-7F8F5AC475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27E421B-463E-D2E3-5241-AAA4FD1A35C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A8823C77-5DFC-D3A5-5230-9A481C48B7AE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Absolute and Relative Referencing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E73235-D825-52CB-0C5F-C6B30E6EA4F1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Absolute Reference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2AFA5CE-0236-3FA2-B804-799894CF1B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3524" y="2462295"/>
            <a:ext cx="9766582" cy="1516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302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7C42A-79C9-3899-0915-09A2B02C3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AC82D924-CB41-320A-CACB-C971983D7C0C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8257EE6-5C87-633F-4D6E-DFA011766EA1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36B54E9-86B7-B707-38AD-9092014513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C0FA9DD-24B3-2DF2-A97A-E66D9600827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5626FE52-10FF-4F06-750F-155A76702B3F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Absolute and Relative Referencing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BD975B-112B-8268-4960-1B302C421D70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Absolute Reference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04E225E-3F4F-6337-D468-307AE721D6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8762" y="2417211"/>
            <a:ext cx="8914476" cy="646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202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A4C91-42ED-7218-A0E1-1426A7423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EA5AD06E-AB63-892C-0747-6A8BC45BF92D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762B996-AB09-1BBD-5760-2D416A659F49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4B4B3B7-1587-1434-66C0-ED4F69D844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CA81CEF-5264-A35A-1B74-62D54C4C71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B177FAE4-124C-64AD-FE92-A9BAC641F153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Absolute and Relative Referencing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5E0D02-4359-8C27-C023-F2F298B97396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Absolute Reference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4AC41E0-6F24-AE1C-9A33-A41AA1FF83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7382" y="2597141"/>
            <a:ext cx="8280420" cy="114067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FDB5448-FF31-0DF7-F852-B1A50C5B98CA}"/>
              </a:ext>
            </a:extLst>
          </p:cNvPr>
          <p:cNvSpPr txBox="1"/>
          <p:nvPr/>
        </p:nvSpPr>
        <p:spPr>
          <a:xfrm>
            <a:off x="7341794" y="5141422"/>
            <a:ext cx="4128311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Lock Cell $J$1</a:t>
            </a:r>
          </a:p>
        </p:txBody>
      </p:sp>
    </p:spTree>
    <p:extLst>
      <p:ext uri="{BB962C8B-B14F-4D97-AF65-F5344CB8AC3E}">
        <p14:creationId xmlns:p14="http://schemas.microsoft.com/office/powerpoint/2010/main" val="3246287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1E82A-704D-99DD-B80F-307BC32A3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B066F06C-6694-C623-791D-E0AF0CB97912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BF64D2F-56F8-A9F7-5371-5530140ED486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B7B63A1-A555-0202-BF2F-9527A4C3A0B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0969A20-D2CE-EAE1-059C-B54F8D9EDF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24A8574-F040-9098-84F8-325A3555FD20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Absolute and Relative Referencing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48E7AB-3785-9149-A8F9-0B33354DB498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Absolute Reference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52E954-4459-A722-A9A1-136707F6F940}"/>
              </a:ext>
            </a:extLst>
          </p:cNvPr>
          <p:cNvSpPr txBox="1"/>
          <p:nvPr/>
        </p:nvSpPr>
        <p:spPr>
          <a:xfrm>
            <a:off x="7341794" y="5141422"/>
            <a:ext cx="4128311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Lock Cell $J$1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1D2E249-3C9C-BE58-5EBF-AAEFD6840D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2207" y="2109892"/>
            <a:ext cx="9975626" cy="2520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752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766E1A-3D28-59AD-584C-F79EEDB68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517C30A-FDA0-93AF-7D73-C06522C45E03}"/>
              </a:ext>
            </a:extLst>
          </p:cNvPr>
          <p:cNvGrpSpPr/>
          <p:nvPr/>
        </p:nvGrpSpPr>
        <p:grpSpPr>
          <a:xfrm>
            <a:off x="75969" y="185439"/>
            <a:ext cx="3410275" cy="892109"/>
            <a:chOff x="75969" y="185439"/>
            <a:chExt cx="3410275" cy="89210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4529D4D-E00C-FD65-4DAF-125EFED8A13D}"/>
                </a:ext>
              </a:extLst>
            </p:cNvPr>
            <p:cNvSpPr/>
            <p:nvPr/>
          </p:nvSpPr>
          <p:spPr>
            <a:xfrm>
              <a:off x="1838036" y="246551"/>
              <a:ext cx="164820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Excel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Training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for Beginners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D501D647-F65E-E4D5-7984-A3F1CB9D62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969" y="185439"/>
              <a:ext cx="1762067" cy="892109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FFCB866-1C1A-4BE7-F054-EB32A825F18C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405D438-DEB2-B1E9-0CF8-B90940B575EE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2574D06-2C36-E181-0EC9-F21D23BBAD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6AA4FBF-44AA-C1FE-8FAB-E4C045AB7A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6DF45969-EB1C-5DA1-6F8D-F1E25D0737AA}"/>
              </a:ext>
            </a:extLst>
          </p:cNvPr>
          <p:cNvSpPr/>
          <p:nvPr/>
        </p:nvSpPr>
        <p:spPr>
          <a:xfrm>
            <a:off x="2889849" y="2890174"/>
            <a:ext cx="836762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AutoSum and AutoFill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621154-D8FA-1CB4-6305-1B741B4EECE5}"/>
              </a:ext>
            </a:extLst>
          </p:cNvPr>
          <p:cNvSpPr/>
          <p:nvPr/>
        </p:nvSpPr>
        <p:spPr>
          <a:xfrm>
            <a:off x="9036704" y="185439"/>
            <a:ext cx="286649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SAID FAWZY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B96DAB-E1CF-EC54-B184-2C7925CCE85A}"/>
              </a:ext>
            </a:extLst>
          </p:cNvPr>
          <p:cNvSpPr/>
          <p:nvPr/>
        </p:nvSpPr>
        <p:spPr>
          <a:xfrm>
            <a:off x="1593013" y="2751675"/>
            <a:ext cx="641230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789423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BAFCC-A937-EE1B-ABB9-4DB4C6A4A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0CEAA1E-E26F-5BB2-11EB-11CC4598BB90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D7D51CC-3A80-8D74-BDB1-2E7DD568882F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7AD93B0-488B-DF70-0933-C18A1BF0BA0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7081C38-27D9-1BF7-D928-B0D21BF94E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09B845B1-F3CC-6087-79EA-DA77C655FFB5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AutoSum and AutoFill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687570-D68A-06DC-829D-A23E09FEE7D8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AutoSum and AutoFill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604AE2F-7983-15AB-F538-3E53685410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1513" y="1932619"/>
            <a:ext cx="9264824" cy="3546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723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E01D0-5296-0085-80DD-8F60C7F91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B07A3EA5-CAF0-AAD2-63CE-F21D0BD5527F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E7F3EDB-9C1C-D14E-E50C-52EF9EDF733B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12AAED5-434F-272D-266D-26741A8DA5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1A8CFF7-8591-96B8-78AD-0553A0E7E40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57715054-D9D9-0CAE-51F6-2E4E30979F12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AutoSum and AutoFill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7E5D46-2FA4-FCFD-E547-045E1B6FECB6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AutoSum and AutoFill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EC41792A-A601-4FC3-BF6A-B18C5AE3FF76}"/>
              </a:ext>
            </a:extLst>
          </p:cNvPr>
          <p:cNvSpPr txBox="1"/>
          <p:nvPr/>
        </p:nvSpPr>
        <p:spPr>
          <a:xfrm>
            <a:off x="3716904" y="1762353"/>
            <a:ext cx="4952642" cy="39726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mpd="sng">
            <a:solidFill>
              <a:schemeClr val="accent6">
                <a:lumMod val="7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/>
              <a:t>AutoFill</a:t>
            </a:r>
            <a:r>
              <a:rPr lang="en-US" sz="2800" b="1" baseline="0" dirty="0"/>
              <a:t> (4 Methods)</a:t>
            </a:r>
          </a:p>
          <a:p>
            <a:endParaRPr lang="en-US" sz="2800" baseline="0" dirty="0"/>
          </a:p>
          <a:p>
            <a:r>
              <a:rPr lang="en-US" sz="2800" baseline="0" dirty="0"/>
              <a:t>1. Double-click</a:t>
            </a:r>
          </a:p>
          <a:p>
            <a:endParaRPr lang="en-US" sz="2800" baseline="0" dirty="0"/>
          </a:p>
          <a:p>
            <a:r>
              <a:rPr lang="en-US" sz="2800" baseline="0" dirty="0"/>
              <a:t>2. Drag down</a:t>
            </a:r>
          </a:p>
          <a:p>
            <a:endParaRPr lang="en-US" sz="2800" baseline="0" dirty="0"/>
          </a:p>
          <a:p>
            <a:r>
              <a:rPr lang="en-US" sz="2800" baseline="0" dirty="0"/>
              <a:t>3. Fill Down button</a:t>
            </a:r>
          </a:p>
          <a:p>
            <a:endParaRPr lang="en-US" sz="2800" baseline="0" dirty="0"/>
          </a:p>
          <a:p>
            <a:r>
              <a:rPr lang="en-US" sz="2800" baseline="0" dirty="0"/>
              <a:t>4. Keyboard Shortcut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9257640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1554B-215B-4DC3-80A9-5C6BE4AAA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5429BB40-F6EB-3E71-7885-8D341E50F2B7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CD26AE7-CF7E-FABA-DC4A-47E1DCCC4128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4B0A5D5-C481-6F4D-772C-39435A127F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9749E0E-1164-6CAD-0F9E-DE7903B67D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A2076375-418E-C11D-5845-5EE536386731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AutoSum and AutoFill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D05AEA-B307-04CB-6C05-27EA7A88732C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Years Totals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5E17A90-A6A7-6192-8C39-5FBB3895B9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3876" y="2399723"/>
            <a:ext cx="7884248" cy="1185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673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7AC23-2A9B-FA64-5DA0-CCEA0092B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8978D02E-57D0-8F42-90A0-76687873952B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48A953B-EDF6-84BE-63B4-AA1B09B564FF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5762A2F-D93D-91B9-00F0-2B95CA8DEA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6629A8C-0004-5858-1BD9-5383A41DBF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5AE7D1AE-7A38-8F5D-E9FC-6F05E3F73B8F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AutoSum and AutoFill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8586F5-E5A5-B557-F26F-138013597FEC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Months Totals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B2D265A-1DF6-9D91-CA60-0553086E6D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479" y="1761614"/>
            <a:ext cx="10301627" cy="121544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03D923E-70F4-68F5-17AC-396631C431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3541" y="3429000"/>
            <a:ext cx="2362459" cy="21465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0CD561F-A162-077A-0C4D-EBAC0D89C8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2564" y="3140220"/>
            <a:ext cx="2134454" cy="2955399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0B559778-8C7C-A47D-AE7A-7B9458BE8BC0}"/>
              </a:ext>
            </a:extLst>
          </p:cNvPr>
          <p:cNvSpPr/>
          <p:nvPr/>
        </p:nvSpPr>
        <p:spPr>
          <a:xfrm>
            <a:off x="6400800" y="4502267"/>
            <a:ext cx="1219200" cy="521143"/>
          </a:xfrm>
          <a:prstGeom prst="rightArrow">
            <a:avLst/>
          </a:prstGeom>
          <a:solidFill>
            <a:srgbClr val="0D5E3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185C3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5948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6DB0B-2FCE-4A61-9691-E56915372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B1C684F7-192E-B920-DB52-BF55E36E5787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9A30DEF-F87C-E7B8-EE7C-22686A55A548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B044D01-1897-6E00-B794-383D92EC11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93DAF78-93EA-22C6-BD9F-D1A6208FF6F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48B0801-FEFD-365C-602C-71B057683313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AutoSum and AutoFill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6672B7-AEC2-24FB-1853-E750E86D9806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Create Fill down Numbers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05ECFA3-9C08-CEA4-E573-580F736868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738" y="2416786"/>
            <a:ext cx="8233679" cy="1256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653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CFAAF-0C7C-0F61-D4E0-EAD6C949F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2A854AA0-B310-EF79-CEEA-06A29EF0BB62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1F31FA8-420D-9960-EB3E-24B458CA198C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9D70AB4-CFB1-CC92-636C-644328890EE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E20D779-AC54-9A4E-C93D-7C9108619F1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2D2E5844-0B7E-4491-E161-EF5F3BB38B2D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AutoSum and AutoFill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075022-7517-C6A0-D90C-1AE7DFB891F9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Create Fill down Numbers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CBC984-E794-318A-C061-6BC922EA5A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9094" y="1598451"/>
            <a:ext cx="3200337" cy="41664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B1BE4FE-2D61-7AAD-6DE2-CEBA98C07D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5803" y="2132718"/>
            <a:ext cx="4087485" cy="3327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657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13F9F-3507-E6F8-287A-4A1C7572C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9F4411F-2994-CA2E-182D-A12CF1E07C5A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261A93C-A7EC-452D-AC93-BBF291D3BE31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1B878E7-E213-CA1B-87CC-44E876679E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5F10D83-A2B8-3703-A054-E46B0BAF71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5C7F109E-4C18-0D45-AFFF-5EEC0D1B8B7C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AutoSum and AutoFill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0F913C-5EA3-59C9-2CCB-BBDCEEF5C781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Create Fill down Numbers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200E762-0EBC-4782-8009-1221C8B37F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823" y="2116335"/>
            <a:ext cx="2681978" cy="2283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973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FAA3B-8C92-1784-55ED-806355E35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04BF9FCD-BA52-BEFB-9A39-867E0FECBCD3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3C89FF6-6426-2615-853F-F1C856CD594E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8263A5B-530F-E694-2D71-56BD48B14EE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E9898DC-1C0A-C0E8-6D37-3FB550019C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56C0FD10-B709-8707-C2E9-95DA7D328910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AutoSum and AutoFill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107CA4-540C-1D3B-7658-F2BCED78D1B8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Fill down Dates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4956783-FAC4-FE29-5D40-95F9F0F522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5527" y="1680207"/>
            <a:ext cx="3870726" cy="3554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900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26A31-4057-C510-C9DE-533A1112D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87CB5CBA-AD15-1EE9-02E1-E3898F9BA730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91E79FF-0DC9-0DE0-377A-05B82E861BE9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5215252-38DF-D3DD-C317-856BF4C854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A77667B-121D-EDF6-A44E-6F2035A722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4FABFCF1-6544-2C60-3E84-7645E2DC61AC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AutoSum and AutoFill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BFF2D3-4C4C-273D-06E4-3812F56C342A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Fill down Dates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7FED8E-93D9-1ED5-3FC7-45AD5502DB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8721" y="2060787"/>
            <a:ext cx="3103911" cy="40198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B7F05AB-E5C0-0D8C-DBD7-40425ECDDC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2160" y="1598451"/>
            <a:ext cx="3408894" cy="4164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901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FFBC3-88B0-5E75-A9B0-83AC8428B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AF3EA6D-D0C4-E526-CFE9-F09BD976F30C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6D55E65-162D-F556-D7B0-BAD4EB0F52A5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4227EA4-F553-A04E-1CFA-759CC93FD1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74D91E6-3935-96C6-3AA7-F163DE5398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E700E37C-49E2-783A-7178-490A6CF7D9A4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AutoSum and AutoFill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59D499-BA32-4B8D-BA46-2E4E30E2ACA0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Months and Days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214295F-AD22-3C10-F040-C27292D9E0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87" y="1961353"/>
            <a:ext cx="4429960" cy="3637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063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18FF9-F42F-A02B-C486-3D80DD2AF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2C470B6-25A1-E31B-E2C0-CB9552541083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C7E550C-3902-A4EF-375B-BDD1E436019A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140B984-C205-8680-35B4-A051160328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71A550F-A991-009A-5039-E79C717A8E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58D0EE7-E84F-2D38-AD40-C1C2A594B1A4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AutoSum and AutoFill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41F758-1E53-5A5A-E9D8-876EB9021BA6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Custom Lists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22ADAB8-A23B-CCF2-E875-DB8BC7A581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3411" y="1925922"/>
            <a:ext cx="4916135" cy="3767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623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983FD9-84B0-19A0-A439-E336C6A15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E5897C0-A682-0916-D7C9-1F35A1C6E4D4}"/>
              </a:ext>
            </a:extLst>
          </p:cNvPr>
          <p:cNvGrpSpPr/>
          <p:nvPr/>
        </p:nvGrpSpPr>
        <p:grpSpPr>
          <a:xfrm>
            <a:off x="75969" y="185439"/>
            <a:ext cx="3410275" cy="892109"/>
            <a:chOff x="75969" y="185439"/>
            <a:chExt cx="3410275" cy="89210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9E642A6-DAD6-B5BD-DCC9-D48589731C3B}"/>
                </a:ext>
              </a:extLst>
            </p:cNvPr>
            <p:cNvSpPr/>
            <p:nvPr/>
          </p:nvSpPr>
          <p:spPr>
            <a:xfrm>
              <a:off x="1838036" y="246551"/>
              <a:ext cx="164820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Excel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Training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for Beginners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1A90A20-AB0C-F0B5-79EB-5A66D501F7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969" y="185439"/>
              <a:ext cx="1762067" cy="892109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FA26271-396C-0ECC-F735-1BBD9B59CD7E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F05DFC6-85ED-88B2-6E87-2B89EFB66BC9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DDB3715-6743-D686-E29F-CCC042AB34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61BE577-91C0-8EB7-A777-BBA37A3E5E5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B86E227A-DE6A-5F5A-974F-95F5C7D02FE7}"/>
              </a:ext>
            </a:extLst>
          </p:cNvPr>
          <p:cNvSpPr/>
          <p:nvPr/>
        </p:nvSpPr>
        <p:spPr>
          <a:xfrm>
            <a:off x="2889849" y="2890174"/>
            <a:ext cx="836762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Flash Fill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DE8E00-1AD1-41E0-2509-DC53192EAFAF}"/>
              </a:ext>
            </a:extLst>
          </p:cNvPr>
          <p:cNvSpPr/>
          <p:nvPr/>
        </p:nvSpPr>
        <p:spPr>
          <a:xfrm>
            <a:off x="9036704" y="185439"/>
            <a:ext cx="286649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SAID FAWZY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365F9F-C954-3132-C1ED-B9D1E9250D7F}"/>
              </a:ext>
            </a:extLst>
          </p:cNvPr>
          <p:cNvSpPr/>
          <p:nvPr/>
        </p:nvSpPr>
        <p:spPr>
          <a:xfrm>
            <a:off x="1593013" y="2751675"/>
            <a:ext cx="641230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239300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4BB38-9ECD-9F32-19B3-1C5933F31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97F9763-6587-A5AC-6EAE-86DF1420C384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BB44B22-EB0F-11BB-35CF-870ACA884C7E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B408679-4536-E701-FDC4-B454F59B40F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68D5E8B-7B23-F69F-0830-294240F136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281A0DF7-58CB-FD4C-1B48-FC0668C1BE1C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Flash Fill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C63A7A-6EED-13B8-86AD-BAC45A810A7D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Invoke “Flash Fill”.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AE787EB-8854-D393-1C1B-4FBFB64078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0715" y="1882099"/>
            <a:ext cx="5418673" cy="3327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240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075B4-34C6-72D1-F549-10B87EC49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0262209-4158-65EF-A257-6E7DFA0FF2C9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F0B61B4-4A31-FEF4-416D-A6228FD1B1EA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51B1023-7ED7-47BD-3D19-18BD131688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FD6E04C-7831-0366-83C8-5521748BB7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0AA3745-BC47-823B-ABE4-59CA59D0317B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Flash Fill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3FDCB3-3FF9-3812-9F3E-490E0994D864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Invoke “Flash Fill”.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50FD37-E125-B05F-431A-87D05429E8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4623" y="2295362"/>
            <a:ext cx="8533892" cy="2036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351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AD4CA-339B-D282-F96C-228CD3BC7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40E97C87-C579-F61E-C696-1E6ACC2DD882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294D1FF-AC9F-1287-B565-B4BE161D9D16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E3F91C2-FDE7-B210-B056-7457F63E7F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783F1BF-8CEB-F428-9E57-1894923472F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59E983D1-BEAD-48E9-6DFF-A1E49364BDAB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Flash Fill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039959-0E4C-7195-0EBD-E735C94578E7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Invoke “Flash Fill”.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F5628B9-B14F-C2F8-6E54-D4D5EE7A47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3922" y="2092877"/>
            <a:ext cx="6597804" cy="3856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672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043E4-BA82-163D-77BE-328D17138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BD3C7E75-8818-886D-E986-9E18A1C6F350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F0BF12E-E8E0-4C3E-7FC8-FEDE924747C2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80032FB-31B1-50C9-3436-FA1650DEA7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421EC83-9C98-0A22-7BA2-8D1A4EF2AF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A2D4F9CB-751A-548D-AB3B-35924E200E10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Flash Fill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E70F26-BFC6-1450-7932-496F66041BAB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Invoke “Flash Fill”.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B69A75-CA9C-65DE-86DE-1F83D37185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5881" y="2753721"/>
            <a:ext cx="5940237" cy="870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082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18C4A-C8A4-EE06-C51D-A319AB053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ADDFD960-01C8-9F79-8943-653A2BD283E7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DEBFC5-068F-2DFA-CA30-252D4D61B65C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6AAC776-EC99-D2F2-6455-FB207C98F0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63BD87C-915B-A55C-A2C0-001BA62C6B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A8E36D49-9432-477A-EE00-E63137376042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Flash Fill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F68E23-0278-8C98-EC84-7C1D094D56EC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Invoke “Flash Fill”.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E2EF4F6-A857-7AC9-44C5-9D0AC740F8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3276" y="1736341"/>
            <a:ext cx="6614471" cy="3686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089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D0BD9-C950-4BA1-8805-7284431E6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C29E9EF1-7133-D96E-7976-F30AD5465801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2EBB794-B39C-A3BB-EF20-28748AB1276B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856EC0B-39C7-A62D-A81B-8F6E9892A1B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E662F75-FDFF-7894-DF30-76375DA07D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C7FFB89A-A797-2AEB-314F-819FFABA680A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Flash Fill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F67AA6-1D9F-6436-7CBC-892F0ACDC202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Invoke “Flash Fill”.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3360200-627D-6971-3A22-D0D7EC8511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7237" y="2168635"/>
            <a:ext cx="3499015" cy="3798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530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5D26D-F89A-9DA4-F7DC-C6739271C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58518480-64AE-AB35-2519-1634BF4F8E5E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3BEF0ED-98F5-9C4F-4841-34340F852003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E84A187-27CD-363D-F619-7C78C816FB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5FD33FA-1475-2934-FA81-981508D1BA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F083740-91C4-44C9-C7EF-39B52BEC70AA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Flash Fill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1D6140-37BF-8297-E255-EABE5FAB2639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Invoke “Flash Fill”.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F5D96F6-8D4B-AEA6-97AF-A6752D1F22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5499" y="2502328"/>
            <a:ext cx="6228447" cy="2053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740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3298E-4A1F-B2CF-AB47-10BE9A933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D9C86C6E-ADEC-35B7-2ED4-7D9CA309A20F}"/>
              </a:ext>
            </a:extLst>
          </p:cNvPr>
          <p:cNvGrpSpPr/>
          <p:nvPr/>
        </p:nvGrpSpPr>
        <p:grpSpPr>
          <a:xfrm>
            <a:off x="75969" y="185439"/>
            <a:ext cx="3410275" cy="892109"/>
            <a:chOff x="75969" y="185439"/>
            <a:chExt cx="3410275" cy="89210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41EC6D2-84AB-0531-03C2-90A5BAE4EDC7}"/>
                </a:ext>
              </a:extLst>
            </p:cNvPr>
            <p:cNvSpPr/>
            <p:nvPr/>
          </p:nvSpPr>
          <p:spPr>
            <a:xfrm>
              <a:off x="1838036" y="246551"/>
              <a:ext cx="164820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Excel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Training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for Beginners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79C2658-3BB8-5877-90AB-9E22C47140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969" y="185439"/>
              <a:ext cx="1762067" cy="892109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7106282-E3BE-E703-AC1D-B0875EE22E22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F8D3D94-1C3C-044A-D9F7-9C81857F0AD5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9521F90-8347-64C3-1CEF-58D2838F24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0E922CD-9EC1-0BED-9FFC-F2450A8747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AA2D961F-11A9-03CA-3FFD-35110BC9E25E}"/>
              </a:ext>
            </a:extLst>
          </p:cNvPr>
          <p:cNvSpPr/>
          <p:nvPr/>
        </p:nvSpPr>
        <p:spPr>
          <a:xfrm>
            <a:off x="1345721" y="3180540"/>
            <a:ext cx="10846278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b="1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Functions Basics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7052C5-0A0B-4147-EBF9-ADE7C83EF780}"/>
              </a:ext>
            </a:extLst>
          </p:cNvPr>
          <p:cNvSpPr/>
          <p:nvPr/>
        </p:nvSpPr>
        <p:spPr>
          <a:xfrm>
            <a:off x="9036704" y="185439"/>
            <a:ext cx="286649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SAID FAWZY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864B2E-C5D9-1E89-5939-8BB4C27D3741}"/>
              </a:ext>
            </a:extLst>
          </p:cNvPr>
          <p:cNvSpPr/>
          <p:nvPr/>
        </p:nvSpPr>
        <p:spPr>
          <a:xfrm>
            <a:off x="570235" y="1737554"/>
            <a:ext cx="4183810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Exam 3</a:t>
            </a:r>
          </a:p>
        </p:txBody>
      </p:sp>
    </p:spTree>
    <p:extLst>
      <p:ext uri="{BB962C8B-B14F-4D97-AF65-F5344CB8AC3E}">
        <p14:creationId xmlns:p14="http://schemas.microsoft.com/office/powerpoint/2010/main" val="2526683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C5CF8-6156-0DFD-795A-FEC78A1D4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8EBE5499-1E63-DEDC-0F0A-195CF19E1E97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4DC7E04-0579-151A-68EE-5C29C731C792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71CF89B-7A17-4805-A413-CF64A09875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0087791-CE77-4601-1FDC-8F472B4727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21BA7BDC-25BC-D7D7-E5AD-00E8DCA1D040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Exam 3: Functions Basics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404283-37F7-F405-76F2-596A53955B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8721" y="1371313"/>
            <a:ext cx="9504206" cy="3665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500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93C2E-32C1-D99E-3BE3-A36EBECB2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A20CCDB1-1BF7-D741-BE39-3AD87B11C564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6AEC01C-76F4-9F03-0918-AE9FCE10BFCC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D2D11CC-2193-0A80-98FD-9D0ED8BD8C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090B3DF-B06A-46F6-6FD7-2615AAD94B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2860FBFF-DB42-CB6A-60BB-9CF1EF7095E9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Exam 3: Functions Basics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EE58A0-E3D6-68BB-239A-016051D93B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691" y="3950142"/>
            <a:ext cx="4169462" cy="160822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ED9B917-B265-D31A-499A-3363CA419F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8528" y="1287752"/>
            <a:ext cx="4959492" cy="4594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9981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6C7C1-AE51-5E0A-8AC4-623511575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3B1D103-1CD3-B0B4-CCDD-5A18323F9C72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0759BC0-9C45-6503-1E18-E577B88B6F11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E414BB0-435C-EC4B-741D-777B5D81651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1B66FF0-8987-9CA1-F331-8388A2A23D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B9C18E2D-BDF3-FE82-1F8B-8880173A603B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Exam 3: Functions Basics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14B183-79C2-5295-28FB-CB0CB6DBA6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2390" y="1944914"/>
            <a:ext cx="9147219" cy="2466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124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E4923-5C74-9DB7-02B1-F3868AD8B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D3D5DFA2-A93B-1012-9E9A-E65DA94AD18F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CDA1EB6-59E7-142D-FC16-AB0BD29B1DF2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0765C10-5826-00C2-1885-5C17047F9D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5C7CF42-FCBB-B701-5D47-8AD903352C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AC509A83-9FCB-DCC6-61BC-6116C052C9DF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Exam 3: Functions Basics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F94BF2-D649-C4A5-156C-C46F88EE39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486" y="4571999"/>
            <a:ext cx="4223756" cy="113899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420A4C8-54FE-53F1-233D-6D5F3AE6E6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397" y="2045276"/>
            <a:ext cx="6053609" cy="2526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8938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497FAC-FA27-6154-F630-7A27A9D02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ank You PNGs for Free Download">
            <a:extLst>
              <a:ext uri="{FF2B5EF4-FFF2-40B4-BE49-F238E27FC236}">
                <a16:creationId xmlns:a16="http://schemas.microsoft.com/office/drawing/2014/main" id="{D86052A5-E49F-683D-11A4-EE05211AFD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595438"/>
            <a:ext cx="7620000" cy="3667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4126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1484</TotalTime>
  <Words>772</Words>
  <Application>Microsoft Office PowerPoint</Application>
  <PresentationFormat>Widescreen</PresentationFormat>
  <Paragraphs>251</Paragraphs>
  <Slides>92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92</vt:i4>
      </vt:variant>
    </vt:vector>
  </HeadingPairs>
  <TitlesOfParts>
    <vt:vector size="104" baseType="lpstr">
      <vt:lpstr>Aptos</vt:lpstr>
      <vt:lpstr>Aptos Display</vt:lpstr>
      <vt:lpstr>Arial</vt:lpstr>
      <vt:lpstr>Arial Black</vt:lpstr>
      <vt:lpstr>Calibri</vt:lpstr>
      <vt:lpstr>Calibri Light</vt:lpstr>
      <vt:lpstr>Montserrat Bold</vt:lpstr>
      <vt:lpstr>Montserrat SemiBold</vt:lpstr>
      <vt:lpstr>Open Sans SemiBold</vt:lpstr>
      <vt:lpstr>Retrospect</vt:lpstr>
      <vt:lpstr>1_Office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Said F. Huda</dc:creator>
  <cp:lastModifiedBy>Said Fawzy</cp:lastModifiedBy>
  <cp:revision>160</cp:revision>
  <dcterms:created xsi:type="dcterms:W3CDTF">2016-11-14T07:59:55Z</dcterms:created>
  <dcterms:modified xsi:type="dcterms:W3CDTF">2025-09-08T06:15:48Z</dcterms:modified>
</cp:coreProperties>
</file>